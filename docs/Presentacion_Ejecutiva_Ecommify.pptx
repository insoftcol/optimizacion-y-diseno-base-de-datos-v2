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5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 SABANA  ·  MAYO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Conceptual y Lógico de Base de Datos Híbrida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+  MongoDB 7.x  ·  Dataset Olist 2018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206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24128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11296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4206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694176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81344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4206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364224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GEO-RECORDS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51392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42062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82912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9034272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41248" y="54940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32104" y="5974080"/>
            <a:ext cx="1049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CO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Fredy Orlando Pulido Quintero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CO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Myriam Andrea </a:t>
            </a:r>
            <a:r>
              <a:rPr lang="es-CO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Martinez</a:t>
            </a:r>
            <a:r>
              <a:rPr lang="es-CO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Fontecha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CO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Nicolas Felipe Torres Amaya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CO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Juan Francisco Javier </a:t>
            </a:r>
            <a:r>
              <a:rPr lang="es-CO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Perez</a:t>
            </a:r>
            <a:r>
              <a:rPr lang="es-CO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Rivero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</a:t>
            </a:r>
            <a:r>
              <a:rPr lang="en-US" sz="1100" i="1" dirty="0" err="1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i="1" dirty="0" err="1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insoftcol</a:t>
            </a: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/optimizacion-y-diseno-base-de-datos-v2/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Ecommify: marketplace de comercio electrónico inspirado en Olist (Brasil)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B2C2C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independientes registran productos en un catálogo unificado; los clientes realizan pedidos con múltiples ítems y métodos de pago mixtos; tras la entrega emiten reseñas opcionales.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PRUEBAS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de Olist (2016-2018), 9 archivos CSV con 99.441 órdenes, 112.650 ítems, 103.886 pagos, 100.150 reseñas y 1 millón de coordenadas geoespaciales. Representa el comportamiento real de la plataforma.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MODELADO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85623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6092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 registros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281160" y="169164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85623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9669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96696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256032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72491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6092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36092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por orden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281160" y="256032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272491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66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96696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mixtos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675120" y="342900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59359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36092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nulos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9281160" y="342900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359359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96696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996696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categorías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675120" y="429768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4462272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6092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360920" y="4663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geo (alcance)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281160" y="429768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0" y="4462272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9669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9966960" y="4663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coords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5943600"/>
            <a:ext cx="365760" cy="3657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5840" y="5852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ALCANCE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1005840" y="6053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seller → geolocation se elimina en esta fase. La geolocalización aplica solo a customers para cálculo de envíos cliente↔depósito.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37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requisitos funcionales · 10 atributos de calidad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692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6692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07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(RF)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920240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clientes con datos personales y geolocalización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359152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502920" y="23591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88720" y="2359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atributos variables por categoría (JSONB)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798064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502920" y="279806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88720" y="2798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atómico de órdenes con múltiples ítems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236976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02920" y="32369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88720" y="3236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métodos múltiples y cuotas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3675888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502920" y="36758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88720" y="3675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reseñas opcionales tras entrega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4114800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502920" y="4114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887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envío por distancia cliente↔depósito (PostGIS)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4553712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502920" y="45537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88720" y="45537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productos tolerante a typos (pg_trgm)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02920" y="4992624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502920" y="499262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88720" y="49926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ventas/categoría/mes, segmentos RFM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" y="5431536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/>
          <p:nvPr/>
        </p:nvSpPr>
        <p:spPr>
          <a:xfrm>
            <a:off x="502920" y="543153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88720" y="54315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por rango temporal (TSTZRANGE)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5870448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502920" y="58704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88720" y="5870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 orden completa para BI (orders_summary)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8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71600"/>
            <a:ext cx="320040" cy="32004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6858000" y="13075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(RNF)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6446520" y="1920240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1"/>
          <p:cNvSpPr/>
          <p:nvPr/>
        </p:nvSpPr>
        <p:spPr>
          <a:xfrm>
            <a:off x="6446520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315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p95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900684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 inserción de orden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6446520" y="2359152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5"/>
          <p:cNvSpPr/>
          <p:nvPr/>
        </p:nvSpPr>
        <p:spPr>
          <a:xfrm>
            <a:off x="6446520" y="23591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315200" y="23591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p95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9006840" y="23591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 consulta MV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6446520" y="2798064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49"/>
          <p:cNvSpPr/>
          <p:nvPr/>
        </p:nvSpPr>
        <p:spPr>
          <a:xfrm>
            <a:off x="6446520" y="27980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7315200" y="27980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9006840" y="27980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99.5 % uptime mensual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6446520" y="3236976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3"/>
          <p:cNvSpPr/>
          <p:nvPr/>
        </p:nvSpPr>
        <p:spPr>
          <a:xfrm>
            <a:off x="6446520" y="32369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7315200" y="3236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9006840" y="3236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FK válidas (pagos)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6446520" y="3675888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7"/>
          <p:cNvSpPr/>
          <p:nvPr/>
        </p:nvSpPr>
        <p:spPr>
          <a:xfrm>
            <a:off x="6446520" y="36758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731520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9006840" y="3675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1.2 TPS sostenidos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6446520" y="4114800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1"/>
          <p:cNvSpPr/>
          <p:nvPr/>
        </p:nvSpPr>
        <p:spPr>
          <a:xfrm>
            <a:off x="6446520" y="4114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731520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000" dirty="0"/>
          </a:p>
        </p:txBody>
      </p:sp>
      <p:sp>
        <p:nvSpPr>
          <p:cNvPr id="67" name="Text 63"/>
          <p:cNvSpPr/>
          <p:nvPr/>
        </p:nvSpPr>
        <p:spPr>
          <a:xfrm>
            <a:off x="900684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 failover PG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6446520" y="4553712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5"/>
          <p:cNvSpPr/>
          <p:nvPr/>
        </p:nvSpPr>
        <p:spPr>
          <a:xfrm>
            <a:off x="6446520" y="45537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RNF-07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7315200" y="4553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000" dirty="0"/>
          </a:p>
        </p:txBody>
      </p:sp>
      <p:sp>
        <p:nvSpPr>
          <p:cNvPr id="71" name="Text 67"/>
          <p:cNvSpPr/>
          <p:nvPr/>
        </p:nvSpPr>
        <p:spPr>
          <a:xfrm>
            <a:off x="9006840" y="4553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transacciones perdidas</a:t>
            </a:r>
            <a:endParaRPr lang="en-US" sz="1000" dirty="0"/>
          </a:p>
        </p:txBody>
      </p:sp>
      <p:sp>
        <p:nvSpPr>
          <p:cNvPr id="72" name="Shape 68"/>
          <p:cNvSpPr/>
          <p:nvPr/>
        </p:nvSpPr>
        <p:spPr>
          <a:xfrm>
            <a:off x="6446520" y="4992624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69"/>
          <p:cNvSpPr/>
          <p:nvPr/>
        </p:nvSpPr>
        <p:spPr>
          <a:xfrm>
            <a:off x="6446520" y="49926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RNF-08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7315200" y="49926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75" name="Text 71"/>
          <p:cNvSpPr/>
          <p:nvPr/>
        </p:nvSpPr>
        <p:spPr>
          <a:xfrm>
            <a:off x="9006840" y="49926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+ pgp_sym</a:t>
            </a:r>
            <a:endParaRPr lang="en-US" sz="1000" dirty="0"/>
          </a:p>
        </p:txBody>
      </p:sp>
      <p:sp>
        <p:nvSpPr>
          <p:cNvPr id="76" name="Shape 72"/>
          <p:cNvSpPr/>
          <p:nvPr/>
        </p:nvSpPr>
        <p:spPr>
          <a:xfrm>
            <a:off x="6446520" y="5431536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Text 73"/>
          <p:cNvSpPr/>
          <p:nvPr/>
        </p:nvSpPr>
        <p:spPr>
          <a:xfrm>
            <a:off x="6446520" y="54315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RNF-09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7315200" y="5431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000" dirty="0"/>
          </a:p>
        </p:txBody>
      </p:sp>
      <p:sp>
        <p:nvSpPr>
          <p:cNvPr id="79" name="Text 75"/>
          <p:cNvSpPr/>
          <p:nvPr/>
        </p:nvSpPr>
        <p:spPr>
          <a:xfrm>
            <a:off x="9006840" y="543153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versionado en Git</a:t>
            </a:r>
            <a:endParaRPr lang="en-US" sz="1000" dirty="0"/>
          </a:p>
        </p:txBody>
      </p:sp>
      <p:sp>
        <p:nvSpPr>
          <p:cNvPr id="80" name="Shape 76"/>
          <p:cNvSpPr/>
          <p:nvPr/>
        </p:nvSpPr>
        <p:spPr>
          <a:xfrm>
            <a:off x="6446520" y="5870448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1" name="Text 77"/>
          <p:cNvSpPr/>
          <p:nvPr/>
        </p:nvSpPr>
        <p:spPr>
          <a:xfrm>
            <a:off x="6446520" y="5870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RNF-10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7315200" y="5870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83" name="Text 79"/>
          <p:cNvSpPr/>
          <p:nvPr/>
        </p:nvSpPr>
        <p:spPr>
          <a:xfrm>
            <a:off x="9006840" y="5870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 MB Supabase + 512 MB Atlas</a:t>
            </a:r>
            <a:endParaRPr lang="en-US" sz="1000" dirty="0"/>
          </a:p>
        </p:txBody>
      </p:sp>
      <p:sp>
        <p:nvSpPr>
          <p:cNvPr id="84" name="Shape 8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Text 81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86" name="Text 82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PostgreSQL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 · Normalización 3FN/FNBC · Notación crow's foot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9456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194560" cy="914400"/>
          </a:xfrm>
          <a:prstGeom prst="rect">
            <a:avLst/>
          </a:prstGeom>
          <a:solidFill>
            <a:srgbClr val="E0E7FF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zip_code_prefix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184708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202996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22128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194560" cy="105156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2648" y="321868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 (UUID)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" y="340156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customer_unique_id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" y="35844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zip_code_prefix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" y="37673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" y="395020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shipping_address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286000"/>
            <a:ext cx="2377440" cy="365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2004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(HECHOS)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651760"/>
            <a:ext cx="2377440" cy="1965960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64408" y="26700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 (UUID)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285292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purchase_timestamp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64408" y="30358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customer_id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4408" y="321868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64408" y="34015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5844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delivered_carrier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376732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delivered_customer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64408" y="39502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estimated_delivery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413308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PARTITION RANGE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286000"/>
            <a:ext cx="2286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1264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651760"/>
            <a:ext cx="2286000" cy="128016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190488" y="26700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order_id, item_id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0488" y="285292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product_id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0488" y="303580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seller_id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321868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NUMERIC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0488" y="34015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0488" y="35844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shipping_limit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961120" y="1645920"/>
            <a:ext cx="2743200" cy="1463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9025128" y="16642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product_id (UUID)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25128" y="18470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category_name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025128" y="202996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weight_g, dims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25128" y="22128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specifications JSONB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25128" y="239572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photos TEXT[]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25128" y="25786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tags TEXT[]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61120" y="3291840"/>
            <a:ext cx="27432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89611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961120" y="3657600"/>
            <a:ext cx="2743200" cy="457200"/>
          </a:xfrm>
          <a:prstGeom prst="rect">
            <a:avLst/>
          </a:prstGeom>
          <a:solidFill>
            <a:srgbClr val="E0E7FF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9025128" y="36758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category_name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25128" y="385876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name_english (3FN)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961120" y="429768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89611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61120" y="4663440"/>
            <a:ext cx="2743200" cy="5486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9025128" y="468172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seller_id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025128" y="48646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zip_code_prefix (sin FK)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025128" y="50474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4846320"/>
            <a:ext cx="23774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320040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00400" y="5212080"/>
            <a:ext cx="2377440" cy="86868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3264408" y="52303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order_id, seq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64408" y="54132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264408" y="559612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264408" y="57790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4846320"/>
            <a:ext cx="2286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612648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126480" y="5212080"/>
            <a:ext cx="2286000" cy="86868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6190488" y="5230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review_id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90488" y="54132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order_id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190488" y="559612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 (1-5)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90488" y="577900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title?, message? (41%)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645920" y="25603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Shape 75"/>
          <p:cNvSpPr/>
          <p:nvPr/>
        </p:nvSpPr>
        <p:spPr>
          <a:xfrm>
            <a:off x="2743200" y="3456432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Shape 76"/>
          <p:cNvSpPr/>
          <p:nvPr/>
        </p:nvSpPr>
        <p:spPr>
          <a:xfrm>
            <a:off x="5577840" y="3108960"/>
            <a:ext cx="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9" name="Shape 77"/>
          <p:cNvSpPr/>
          <p:nvPr/>
        </p:nvSpPr>
        <p:spPr>
          <a:xfrm>
            <a:off x="8412480" y="3108960"/>
            <a:ext cx="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Shape 78"/>
          <p:cNvSpPr/>
          <p:nvPr/>
        </p:nvSpPr>
        <p:spPr>
          <a:xfrm>
            <a:off x="10332720" y="31089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1" name="Shape 79"/>
          <p:cNvSpPr/>
          <p:nvPr/>
        </p:nvSpPr>
        <p:spPr>
          <a:xfrm>
            <a:off x="8961120" y="393192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Shape 80"/>
          <p:cNvSpPr/>
          <p:nvPr/>
        </p:nvSpPr>
        <p:spPr>
          <a:xfrm>
            <a:off x="4389120" y="4617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3" name="Shape 81"/>
          <p:cNvSpPr/>
          <p:nvPr/>
        </p:nvSpPr>
        <p:spPr>
          <a:xfrm>
            <a:off x="5577840" y="4114800"/>
            <a:ext cx="1691640" cy="7315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4" name="Shape 8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Relacional — Tipos y Restricciones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por tabla con tipos de datos y constraints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7957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Tipo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clave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1280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avanzados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117957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customer_unique_id, zip,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(composite)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zip, city, state (sin FK geo)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117957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dims, weight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JSONB, TEXT[], composite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lng, city, state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GEOGRAPHY(POINT,4326)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117957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5720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+ timestamp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purchase_ts, delivered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audit_log · PARTITION RANGE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9776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5720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2024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 (3)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seller_id, price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NUMERIC(10,2)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434840"/>
            <a:ext cx="117957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457200" y="4434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20240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 (3)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installments, value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domain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8920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57200" y="4892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2024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title?, message? (41%)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5528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(nullable)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5349240"/>
            <a:ext cx="117957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45720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92024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discount_pct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95528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TSTZRANGE + EXCLUDE GIST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60807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Todas las tablas con updated_at gestionado por trigger reutilizable set_updated_at()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Avanzados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modelo relacional clásico — aplicación en Ecommify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91440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products.specifications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categorías con atributos heterogéneos. Schema flexible evita columnas NULL masivas.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31520" y="2852928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specifications JSONB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índice GIN jsonb_path_ops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 @&gt; '{"resolution":"4K"}'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91440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465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products.photos / tags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057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ordenadas y etiquetas. Operadores @&gt;, &amp;&amp; con índice GIN. Sin tabla intermedia.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834640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537960" y="2852928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photos TEXT[]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  TEXT[]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tags &amp;&amp; ['samsung','lg']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91440" cy="2331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008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TSTZRANGE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promotions.period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5994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promoción. Operador @&gt; con índice GIST. EXCLUDE previene solapamientos.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76672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31520" y="5394960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TSTZRANGE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 USING GIST (product_id WITH =, period WITH &amp;&amp;)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3822192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6172200" y="3822192"/>
            <a:ext cx="91440" cy="2331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44652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4652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dimensions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5994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reutilizables entre tablas. Encapsula múltiples campos en una columna.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5376672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537960" y="5394960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TYPE address AS 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street TEXT, city VARCHAR(60),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CHAR(2), zip INT, country CHAR(2))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de PostgreSQL Adoptadas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nativas sin modificar el núcleo del motor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14300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3.4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geoespacial sobre GEOGRAPHY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14447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cliente↔depósito en metros usando ST_Distance con índice GiST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32520" y="160020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796528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ST_DWithin(c.location, w.location, 50000)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514600"/>
            <a:ext cx="11430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86207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1732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fuzzy con trigramas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37760" y="26791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tolerantes a typos: 'samsumg' encuentra 'samsung' con índice GIN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732520" y="283464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8796528" y="2862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product_category_name % 'celular'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5760" y="3749040"/>
            <a:ext cx="114300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096512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41732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y cifrado simétrico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937760" y="39136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para passwords + pgp_sym_encrypt para campos sensibles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732520" y="406908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4"/>
          <p:cNvSpPr/>
          <p:nvPr/>
        </p:nvSpPr>
        <p:spPr>
          <a:xfrm>
            <a:off x="8796528" y="4096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crypt(password, gen_salt('bf', 12))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65760" y="4983480"/>
            <a:ext cx="11430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6"/>
          <p:cNvSpPr/>
          <p:nvPr/>
        </p:nvSpPr>
        <p:spPr>
          <a:xfrm>
            <a:off x="548640" y="516636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330952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17320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btree_gin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417320" y="5513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GIN multi-columna mixtos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937760" y="5148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JSONB + escalar: specs @&gt; X AND category = Y en una sola búsqueda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732520" y="530352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1"/>
          <p:cNvSpPr/>
          <p:nvPr/>
        </p:nvSpPr>
        <p:spPr>
          <a:xfrm>
            <a:off x="8796528" y="5330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... USING GIN (specs, category)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MongoDB — 4 Colecciones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flexible (AP) complementa al núcleo transaccional PostgreSQL (CP)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23560" cy="2331720"/>
          </a:xfrm>
          <a:prstGeom prst="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18872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ETL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92040" y="14173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459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orders_summary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4360" y="2240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analítica desnormalizada de la orden completa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= order_id de PostgreSQL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Embedded: customer{}, items[]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key: hashed(_id)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nightly + incremental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5623560" cy="2331720"/>
          </a:xfrm>
          <a:prstGeom prst="rect">
            <a:avLst/>
          </a:prstGeom>
          <a:solidFill>
            <a:srgbClr val="F3E8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6400800" y="1444752"/>
            <a:ext cx="11887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40080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CSV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0698480" y="14173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64592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0080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con esquema flexible (41% nulos)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46520" y="2651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comment_title? opcional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comment_message? opcional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text para búsqueda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ETL ongoing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794760"/>
            <a:ext cx="562356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594360" y="3959352"/>
            <a:ext cx="1188720" cy="2743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59436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← PG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892040" y="3931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16052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products_catalog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594360" y="4754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desnormalizado con category embebida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40080" y="51663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= product_id de PG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{ name_pt, name_en } embebido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JOIN en lectura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upsert on change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72200" y="3794760"/>
            <a:ext cx="5623560" cy="2331720"/>
          </a:xfrm>
          <a:prstGeom prst="rect">
            <a:avLst/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6"/>
          <p:cNvSpPr/>
          <p:nvPr/>
        </p:nvSpPr>
        <p:spPr>
          <a:xfrm>
            <a:off x="6400800" y="3959352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7"/>
          <p:cNvSpPr/>
          <p:nvPr/>
        </p:nvSpPr>
        <p:spPr>
          <a:xfrm>
            <a:off x="640080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CSV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10698480" y="3931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416052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0080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6400800" y="4754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 geoespaciales con índice 2dsphere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446520" y="51663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GeoJSON Point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documentos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2dsphere nativo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near, geoWithin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 por Entidad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PostgreSQL vs MongoDB con criterios cuantitativos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928116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Nulos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1280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280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Lect.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280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Esq. Flex.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2801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41080" y="1280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17007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0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170078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1700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170078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170078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746504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37960" y="17007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41080" y="170078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121408"/>
            <a:ext cx="928116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7200" y="21214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21214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212140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21214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21214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1214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2167128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537960" y="21214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41080" y="21214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542032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57200" y="25420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20240" y="25420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254203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11880" y="25420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25420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25420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2587752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537960" y="25420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41080" y="25420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2962656"/>
            <a:ext cx="928116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572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20240" y="29626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834640" y="29626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11880" y="29626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2628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3212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3008376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6537960" y="29626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64108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3383280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457200" y="33832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92024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834640" y="33832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1188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26280" y="33832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32120" y="33832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83680" y="3429000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6537960" y="33832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41080" y="33832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5760" y="3803904"/>
            <a:ext cx="9281160" cy="420624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457200" y="38039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920240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834640" y="38039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11880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26280" y="38039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532120" y="38039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83680" y="3849624"/>
            <a:ext cx="2011680" cy="32918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6537960" y="38039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641080" y="38039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" y="4224528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457200" y="42245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920240" y="42245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834640" y="422452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611880" y="42245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526280" y="42245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532120" y="42245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583680" y="4270248"/>
            <a:ext cx="2011680" cy="32918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3" name="Text 81"/>
          <p:cNvSpPr/>
          <p:nvPr/>
        </p:nvSpPr>
        <p:spPr>
          <a:xfrm>
            <a:off x="6537960" y="42245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641080" y="42245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65760" y="4645152"/>
            <a:ext cx="9281160" cy="420624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Text 84"/>
          <p:cNvSpPr/>
          <p:nvPr/>
        </p:nvSpPr>
        <p:spPr>
          <a:xfrm>
            <a:off x="457200" y="46451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920240" y="4645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834640" y="464515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611880" y="4645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526280" y="46451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532120" y="46451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583680" y="4690872"/>
            <a:ext cx="2011680" cy="32918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3" name="Text 91"/>
          <p:cNvSpPr/>
          <p:nvPr/>
        </p:nvSpPr>
        <p:spPr>
          <a:xfrm>
            <a:off x="6537960" y="46451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Mixta PG+MDB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8641080" y="46451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CP/AP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65760" y="5065776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6" name="Text 94"/>
          <p:cNvSpPr/>
          <p:nvPr/>
        </p:nvSpPr>
        <p:spPr>
          <a:xfrm>
            <a:off x="45720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orders_summary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1920240" y="5065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2834640" y="50657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3611880" y="5065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526280" y="5065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532120" y="5065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583680" y="5111496"/>
            <a:ext cx="2011680" cy="32918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3" name="Text 101"/>
          <p:cNvSpPr/>
          <p:nvPr/>
        </p:nvSpPr>
        <p:spPr>
          <a:xfrm>
            <a:off x="6537960" y="50657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8641080" y="5065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Alto · M = Medio · B = Bajo · Criterios: % nulos, FK estricta, consistencia, volumen de lectura, esquema flexible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7" name="Text 105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CAP y Arquitectura Híbrida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motor cubre su prioridad CAP — el ETL los conecta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CAP (Brewer, 2000)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garantizar Consistencia + Disponibilidad + Tolerancia a Particiones simultáneamente. Se elige entre sistemas CP y AP, ya que P es inevitable.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5486400" cy="1783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9144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32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Sistema CP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3063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+ Tolerancia a Particiones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ACID completo para datos transaccionales. Sacrifica disponibilidad durante failover (~30 s). Una orden duplicada = error financiero irreversible.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526280"/>
            <a:ext cx="5486400" cy="1783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365760" y="4526280"/>
            <a:ext cx="91440" cy="178308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6634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7.x — Sistema AP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280160" y="4983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+ Tolerancia a Particiones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" y="5349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disponibilidad y escalabilidad horizontal. Consistencia eventual en réplicas. Una reseña con 30 s de retraso no es un error de negocio.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HÍBRIDA — 4 FLUJOS ETL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63640" y="169164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8"/>
          <p:cNvSpPr/>
          <p:nvPr/>
        </p:nvSpPr>
        <p:spPr>
          <a:xfrm>
            <a:off x="6263640" y="1691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items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customers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138160" y="2125980"/>
            <a:ext cx="132588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813816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nightly + incr horario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9509760" y="169164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950976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orders_summary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63640" y="288036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4"/>
          <p:cNvSpPr/>
          <p:nvPr/>
        </p:nvSpPr>
        <p:spPr>
          <a:xfrm>
            <a:off x="6263640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+ categories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138160" y="3314700"/>
            <a:ext cx="1325880" cy="0"/>
          </a:xfrm>
          <a:prstGeom prst="line">
            <a:avLst/>
          </a:prstGeom>
          <a:noFill/>
          <a:ln w="25400">
            <a:solidFill>
              <a:srgbClr val="13AA52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6"/>
          <p:cNvSpPr/>
          <p:nvPr/>
        </p:nvSpPr>
        <p:spPr>
          <a:xfrm>
            <a:off x="8138160" y="2971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on change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9509760" y="288036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8"/>
          <p:cNvSpPr/>
          <p:nvPr/>
        </p:nvSpPr>
        <p:spPr>
          <a:xfrm>
            <a:off x="9509760" y="2880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products_catalog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63640" y="406908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0"/>
          <p:cNvSpPr/>
          <p:nvPr/>
        </p:nvSpPr>
        <p:spPr>
          <a:xfrm>
            <a:off x="6263640" y="4069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reviews.csv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38160" y="4503420"/>
            <a:ext cx="1325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2"/>
          <p:cNvSpPr/>
          <p:nvPr/>
        </p:nvSpPr>
        <p:spPr>
          <a:xfrm>
            <a:off x="8138160" y="4160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 única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9509760" y="406908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4"/>
          <p:cNvSpPr/>
          <p:nvPr/>
        </p:nvSpPr>
        <p:spPr>
          <a:xfrm>
            <a:off x="9509760" y="4069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263640" y="525780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6"/>
          <p:cNvSpPr/>
          <p:nvPr/>
        </p:nvSpPr>
        <p:spPr>
          <a:xfrm>
            <a:off x="6263640" y="5257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geolocation.csv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8138160" y="5692140"/>
            <a:ext cx="1325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38"/>
          <p:cNvSpPr/>
          <p:nvPr/>
        </p:nvSpPr>
        <p:spPr>
          <a:xfrm>
            <a:off x="8138160" y="5349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 única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509760" y="525780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0"/>
          <p:cNvSpPr/>
          <p:nvPr/>
        </p:nvSpPr>
        <p:spPr>
          <a:xfrm>
            <a:off x="950976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Mitigaciones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identificados y cómo se compensan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430000" cy="868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70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53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3444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en Supabase free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4840" y="1353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3484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cabe dataset completo + tablas adicionales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60920" y="1554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de geolocation (100K registros) en Supabase. Dataset full en Docker local. Migrar a Pro al superar.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267712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502920" y="2404872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146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23408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23444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no disponible en Atlas M0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34840" y="2340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3484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escalar horizontalmente en plan gratuito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360920" y="23408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60920" y="25420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emulado en cluster Docker local. Migración a Atlas M10 ($60/mes) cuando crezca volumen real de producción.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65760" y="3255264"/>
            <a:ext cx="11430000" cy="868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502920" y="339242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02152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3328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234440" y="35295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FK nativa MongoDB ↔ PostgreSQL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434840" y="3328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434840" y="35295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puede quedar huérfano en reviews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360920" y="3328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360920" y="3529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ON DELETE RESTRICT en PG impide borrar orders con dependencias. Soft-delete en su lugar. Validación de integridad en aplicación.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65760" y="4242816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29"/>
          <p:cNvSpPr/>
          <p:nvPr/>
        </p:nvSpPr>
        <p:spPr>
          <a:xfrm>
            <a:off x="502920" y="437997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89704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34440" y="43159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234440" y="45171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ETL para orders_summary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43484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434840" y="45171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MongoDB están 1-24 h desactualizados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360920" y="4315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7360920" y="45171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 para dashboards ejecutivos. Consultas en tiempo real (checkout, perfil) van directo a PG. ETL incremental horario.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365760" y="5230368"/>
            <a:ext cx="11430000" cy="868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37"/>
          <p:cNvSpPr/>
          <p:nvPr/>
        </p:nvSpPr>
        <p:spPr>
          <a:xfrm>
            <a:off x="502920" y="5367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77256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234440" y="5303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234440" y="5504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secundarias MDB con lag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443484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4434840" y="5504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puede ver review propia con retraso de segundos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7360920" y="5303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7360920" y="55046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readConcern: majority para campos críticos. readPreference: primary cuando importa la consistencia inmediata.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45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Docker local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8 scripts DDL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CSVs Olist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integridad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1188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avanzados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specifications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warehouses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TSTZRANGE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updated_at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40080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+ ETL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PG → MongoDB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2dsphere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emulado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918972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18972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final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7260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OLTP/OLAP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cargas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queries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029200"/>
            <a:ext cx="10607040" cy="1325880"/>
          </a:xfrm>
          <a:prstGeom prst="rect">
            <a:avLst/>
          </a:prstGeom>
          <a:solidFill>
            <a:srgbClr val="112A5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4924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92024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92024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insoftcol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/optimizacion-y-diseno-base-de-datos-v2/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9202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archivos · 8 DDL scripts · 2 ETL Python · 4 ejemplos MongoDB · diccionario TSV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Fredy</a:t>
            </a:r>
            <a:r>
              <a:rPr lang="es-CO" sz="1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Orlando Pulido Quintero </a:t>
            </a:r>
            <a:r>
              <a:rPr lang="en-US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· 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Myriam Andrea </a:t>
            </a:r>
            <a:r>
              <a:rPr lang="es-CO" sz="1000" dirty="0" err="1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Martinez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 Fontecha </a:t>
            </a:r>
            <a:r>
              <a:rPr lang="en-US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· 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Nicolas Felipe Torres Amaya </a:t>
            </a:r>
            <a:r>
              <a:rPr lang="en-US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· 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Juan Francisco Javier </a:t>
            </a:r>
            <a:r>
              <a:rPr lang="es-CO" sz="1000" dirty="0" err="1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Perez</a:t>
            </a:r>
            <a:r>
              <a:rPr lang="es-CO" sz="1000" dirty="0">
                <a:solidFill>
                  <a:srgbClr val="8FB4D8"/>
                </a:solidFill>
                <a:latin typeface="Calibri" pitchFamily="34" charset="0"/>
                <a:cs typeface="Calibri" pitchFamily="34" charset="-120"/>
              </a:rPr>
              <a:t> Rivero </a:t>
            </a:r>
            <a:r>
              <a:rPr lang="en-US" sz="100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Universidad de La Sabana ·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2042</Words>
  <Application>Microsoft Macintosh PowerPoint</Application>
  <PresentationFormat>Panorámica</PresentationFormat>
  <Paragraphs>479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Ecommify — Diseño Conceptual y Lógico</dc:title>
  <dc:subject>PptxGenJS Presentation</dc:subject>
  <dc:creator>Fredy Pulido · Juan Pérez Vivanco</dc:creator>
  <cp:lastModifiedBy>Fredy Orlando Pulido Quintero</cp:lastModifiedBy>
  <cp:revision>4</cp:revision>
  <dcterms:created xsi:type="dcterms:W3CDTF">2026-05-23T23:27:59Z</dcterms:created>
  <dcterms:modified xsi:type="dcterms:W3CDTF">2026-05-24T01:23:42Z</dcterms:modified>
</cp:coreProperties>
</file>