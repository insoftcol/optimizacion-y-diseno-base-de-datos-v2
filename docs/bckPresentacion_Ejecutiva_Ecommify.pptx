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LA SABANA  ·  MAYO 2026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Ecommify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Conceptual y Lógico de Base de Datos Híbrida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8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 +  MongoDB 7.x  ·  Dataset Olist 2018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41248" y="4069080"/>
            <a:ext cx="2468880" cy="1188720"/>
          </a:xfrm>
          <a:prstGeom prst="rect">
            <a:avLst/>
          </a:prstGeom>
          <a:solidFill>
            <a:srgbClr val="112A55"/>
          </a:solidFill>
          <a:ln w="6350">
            <a:solidFill>
              <a:srgbClr val="1C729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42062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72768" y="4160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1024128" y="4709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511296" y="4069080"/>
            <a:ext cx="2468880" cy="1188720"/>
          </a:xfrm>
          <a:prstGeom prst="rect">
            <a:avLst/>
          </a:prstGeom>
          <a:solidFill>
            <a:srgbClr val="112A55"/>
          </a:solidFill>
          <a:ln w="6350">
            <a:solidFill>
              <a:srgbClr val="1C729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176" y="420624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242816" y="4160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99K</a:t>
            </a:r>
            <a:endParaRPr lang="en-US" sz="2800" dirty="0"/>
          </a:p>
        </p:txBody>
      </p:sp>
      <p:sp>
        <p:nvSpPr>
          <p:cNvPr id="14" name="Text 10"/>
          <p:cNvSpPr/>
          <p:nvPr/>
        </p:nvSpPr>
        <p:spPr>
          <a:xfrm>
            <a:off x="3694176" y="4709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ÓRDENES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181344" y="4069080"/>
            <a:ext cx="2468880" cy="1188720"/>
          </a:xfrm>
          <a:prstGeom prst="rect">
            <a:avLst/>
          </a:prstGeom>
          <a:solidFill>
            <a:srgbClr val="112A55"/>
          </a:solidFill>
          <a:ln w="6350">
            <a:solidFill>
              <a:srgbClr val="1C729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420624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12864" y="4160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1M+</a:t>
            </a:r>
            <a:endParaRPr lang="en-US" sz="2800" dirty="0"/>
          </a:p>
        </p:txBody>
      </p:sp>
      <p:sp>
        <p:nvSpPr>
          <p:cNvPr id="18" name="Text 13"/>
          <p:cNvSpPr/>
          <p:nvPr/>
        </p:nvSpPr>
        <p:spPr>
          <a:xfrm>
            <a:off x="6364224" y="4709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GEO-RECORDS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8851392" y="4069080"/>
            <a:ext cx="2468880" cy="1188720"/>
          </a:xfrm>
          <a:prstGeom prst="rect">
            <a:avLst/>
          </a:prstGeom>
          <a:solidFill>
            <a:srgbClr val="112A55"/>
          </a:solidFill>
          <a:ln w="6350">
            <a:solidFill>
              <a:srgbClr val="1C7293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4272" y="420624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582912" y="4160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</a:t>
            </a:r>
            <a:endParaRPr lang="en-US" sz="2800" dirty="0"/>
          </a:p>
        </p:txBody>
      </p:sp>
      <p:sp>
        <p:nvSpPr>
          <p:cNvPr id="22" name="Text 16"/>
          <p:cNvSpPr/>
          <p:nvPr/>
        </p:nvSpPr>
        <p:spPr>
          <a:xfrm>
            <a:off x="9034272" y="4709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RESEÑAS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822960" y="562356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Fredy Pulido  ·  Juan Pérez Vivanco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822960" y="6263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github.com/juanperriv/optimizacion-y-diseno-base-de-datos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274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Proyecto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05840" y="7498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Ecommify: marketplace de comercio electrónico inspirado en Olist (Brasil)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B2C2C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Vendedores independientes registran productos en un catálogo unificado; los clientes realizan pedidos con múltiples ítems y métodos de pago mixtos; tras la entrega emiten reseñas opcionales.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30632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 PRUEBAS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38328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Brazilian E-Commerce de Olist (2016-2018), 9 archivos CSV con 99.441 órdenes, 112.650 ítems, 103.886 pagos, 100.150 reseñas y 1 millón de coordenadas geoespaciales. Representa el comportamiento real de la plataforma.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75120" y="1280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MODELADO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0" y="1691640"/>
            <a:ext cx="24688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1856232"/>
            <a:ext cx="457200" cy="457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360920" y="17830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60920" y="20574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99K registros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9281160" y="1691640"/>
            <a:ext cx="24688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1856232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966960" y="17830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9966960" y="20574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hechos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675120" y="2560320"/>
            <a:ext cx="24688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2724912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360920" y="26517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OrderItems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7360920" y="29260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 por orden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9281160" y="2560320"/>
            <a:ext cx="24688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2724912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966960" y="26517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9966960" y="29260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mixtos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6675120" y="3429000"/>
            <a:ext cx="24688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3593592"/>
            <a:ext cx="457200" cy="4572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360920" y="3520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7360920" y="37947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 nulos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9281160" y="3429000"/>
            <a:ext cx="24688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0" y="3593592"/>
            <a:ext cx="457200" cy="4572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966960" y="3520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9966960" y="37947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categorías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6675120" y="4297680"/>
            <a:ext cx="24688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2280" y="4462272"/>
            <a:ext cx="457200" cy="45720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360920" y="43891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7360920" y="4663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geo (alcance)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9281160" y="4297680"/>
            <a:ext cx="24688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18320" y="4462272"/>
            <a:ext cx="457200" cy="45720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9966960" y="43891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</a:t>
            </a:r>
            <a:endParaRPr lang="en-US" sz="1300" dirty="0"/>
          </a:p>
        </p:txBody>
      </p:sp>
      <p:sp>
        <p:nvSpPr>
          <p:cNvPr id="42" name="Text 32"/>
          <p:cNvSpPr/>
          <p:nvPr/>
        </p:nvSpPr>
        <p:spPr>
          <a:xfrm>
            <a:off x="9966960" y="4663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1M+ coords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365760" y="5760720"/>
            <a:ext cx="11430000" cy="685800"/>
          </a:xfrm>
          <a:prstGeom prst="rect">
            <a:avLst/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</p:spPr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" y="5943600"/>
            <a:ext cx="365760" cy="365760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1005840" y="5852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DE ALCANCE</a:t>
            </a:r>
            <a:endParaRPr lang="en-US" sz="1000" dirty="0"/>
          </a:p>
        </p:txBody>
      </p:sp>
      <p:sp>
        <p:nvSpPr>
          <p:cNvPr id="46" name="Text 35"/>
          <p:cNvSpPr/>
          <p:nvPr/>
        </p:nvSpPr>
        <p:spPr>
          <a:xfrm>
            <a:off x="1005840" y="605332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relación seller → geolocation se elimina en esta fase. La geolocalización aplica solo a customers para cálculo de envíos cliente↔depósito.</a:t>
            </a:r>
            <a:endParaRPr lang="en-US" sz="1200" dirty="0"/>
          </a:p>
        </p:txBody>
      </p:sp>
      <p:sp>
        <p:nvSpPr>
          <p:cNvPr id="47" name="Shape 3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1B3D"/>
          </a:solidFill>
          <a:ln w="12700">
            <a:solidFill>
              <a:srgbClr val="0A1B3D"/>
            </a:solidFill>
            <a:prstDash val="solid"/>
          </a:ln>
        </p:spPr>
      </p:sp>
      <p:sp>
        <p:nvSpPr>
          <p:cNvPr id="48" name="Text 37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Ecommify · Diseño Conceptual y Lógico · Universidad de La Sabana</a:t>
            </a:r>
            <a:endParaRPr lang="en-US" sz="900" dirty="0"/>
          </a:p>
        </p:txBody>
      </p:sp>
      <p:sp>
        <p:nvSpPr>
          <p:cNvPr id="49" name="Text 38"/>
          <p:cNvSpPr/>
          <p:nvPr/>
        </p:nvSpPr>
        <p:spPr>
          <a:xfrm>
            <a:off x="10972800" y="6583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274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del Sistema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05840" y="7498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requisitos funcionales · 10 atributos de calidad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566928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80160"/>
            <a:ext cx="566928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130759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FUNCIONALES (RF)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1920240"/>
            <a:ext cx="594360" cy="320040"/>
          </a:xfrm>
          <a:prstGeom prst="rect">
            <a:avLst/>
          </a:prstGeom>
          <a:solidFill>
            <a:srgbClr val="E3F2FD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192024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8872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clientes con datos personales y geolocalización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02920" y="2359152"/>
            <a:ext cx="594360" cy="320040"/>
          </a:xfrm>
          <a:prstGeom prst="rect">
            <a:avLst/>
          </a:prstGeom>
          <a:solidFill>
            <a:srgbClr val="E3F2FD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235915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88720" y="23591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con atributos variables por categoría (JSONB)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02920" y="2798064"/>
            <a:ext cx="594360" cy="320040"/>
          </a:xfrm>
          <a:prstGeom prst="rect">
            <a:avLst/>
          </a:prstGeom>
          <a:solidFill>
            <a:srgbClr val="E3F2FD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2798064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188720" y="279806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 atómico de órdenes con múltiples ítems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02920" y="3236976"/>
            <a:ext cx="594360" cy="320040"/>
          </a:xfrm>
          <a:prstGeom prst="rect">
            <a:avLst/>
          </a:prstGeom>
          <a:solidFill>
            <a:srgbClr val="E3F2FD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3236976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RF-04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88720" y="323697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con métodos múltiples y cuotas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02920" y="3675888"/>
            <a:ext cx="594360" cy="320040"/>
          </a:xfrm>
          <a:prstGeom prst="rect">
            <a:avLst/>
          </a:prstGeom>
          <a:solidFill>
            <a:srgbClr val="E3F2FD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" y="3675888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RF-05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88720" y="367588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Recepción de reseñas opcionales tras entrega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02920" y="4114800"/>
            <a:ext cx="594360" cy="320040"/>
          </a:xfrm>
          <a:prstGeom prst="rect">
            <a:avLst/>
          </a:prstGeom>
          <a:solidFill>
            <a:srgbClr val="E3F2FD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41148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RF-06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188720" y="4114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de envío por distancia cliente↔depósito (PostGIS)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02920" y="4553712"/>
            <a:ext cx="594360" cy="320040"/>
          </a:xfrm>
          <a:prstGeom prst="rect">
            <a:avLst/>
          </a:prstGeom>
          <a:solidFill>
            <a:srgbClr val="E3F2FD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02920" y="455371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RF-07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188720" y="455371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de productos tolerante a typos (pg_trgm)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02920" y="4992624"/>
            <a:ext cx="594360" cy="320040"/>
          </a:xfrm>
          <a:prstGeom prst="rect">
            <a:avLst/>
          </a:prstGeom>
          <a:solidFill>
            <a:srgbClr val="E3F2FD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02920" y="4992624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RF-08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1188720" y="499262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Dashboards: ventas/categoría/mes, segmentos RFM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02920" y="5431536"/>
            <a:ext cx="594360" cy="320040"/>
          </a:xfrm>
          <a:prstGeom prst="rect">
            <a:avLst/>
          </a:prstGeom>
          <a:solidFill>
            <a:srgbClr val="E3F2FD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02920" y="5431536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RF-09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1188720" y="543153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Promociones por rango temporal (TSTZRANGE)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502920" y="5870448"/>
            <a:ext cx="594360" cy="320040"/>
          </a:xfrm>
          <a:prstGeom prst="rect">
            <a:avLst/>
          </a:prstGeom>
          <a:solidFill>
            <a:srgbClr val="E3F2FD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02920" y="5870448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RF-10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1188720" y="58704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consolidada orden completa para BI (orders_summary)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6309360" y="12801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13AA52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309360" y="1280160"/>
            <a:ext cx="5486400" cy="502920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pic>
        <p:nvPicPr>
          <p:cNvPr id="4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371600"/>
            <a:ext cx="320040" cy="320040"/>
          </a:xfrm>
          <a:prstGeom prst="rect">
            <a:avLst/>
          </a:prstGeom>
        </p:spPr>
      </p:pic>
      <p:sp>
        <p:nvSpPr>
          <p:cNvPr id="43" name="Text 39"/>
          <p:cNvSpPr/>
          <p:nvPr/>
        </p:nvSpPr>
        <p:spPr>
          <a:xfrm>
            <a:off x="6858000" y="130759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NO FUNCIONALES (RNF)</a:t>
            </a:r>
            <a:endParaRPr lang="en-US" sz="1300" dirty="0"/>
          </a:p>
        </p:txBody>
      </p:sp>
      <p:sp>
        <p:nvSpPr>
          <p:cNvPr id="44" name="Shape 40"/>
          <p:cNvSpPr/>
          <p:nvPr/>
        </p:nvSpPr>
        <p:spPr>
          <a:xfrm>
            <a:off x="6446520" y="1920240"/>
            <a:ext cx="777240" cy="320040"/>
          </a:xfrm>
          <a:prstGeom prst="rect">
            <a:avLst/>
          </a:prstGeom>
          <a:solidFill>
            <a:srgbClr val="E8F5E9"/>
          </a:solidFill>
          <a:ln w="6350">
            <a:solidFill>
              <a:srgbClr val="13AA52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6446520" y="19202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RNF-01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7315200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p95</a:t>
            </a:r>
            <a:endParaRPr lang="en-US" sz="1000" dirty="0"/>
          </a:p>
        </p:txBody>
      </p:sp>
      <p:sp>
        <p:nvSpPr>
          <p:cNvPr id="47" name="Text 43"/>
          <p:cNvSpPr/>
          <p:nvPr/>
        </p:nvSpPr>
        <p:spPr>
          <a:xfrm>
            <a:off x="9006840" y="19202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200 ms inserción de orden</a:t>
            </a:r>
            <a:endParaRPr lang="en-US" sz="1000" dirty="0"/>
          </a:p>
        </p:txBody>
      </p:sp>
      <p:sp>
        <p:nvSpPr>
          <p:cNvPr id="48" name="Shape 44"/>
          <p:cNvSpPr/>
          <p:nvPr/>
        </p:nvSpPr>
        <p:spPr>
          <a:xfrm>
            <a:off x="6446520" y="2359152"/>
            <a:ext cx="777240" cy="320040"/>
          </a:xfrm>
          <a:prstGeom prst="rect">
            <a:avLst/>
          </a:prstGeom>
          <a:solidFill>
            <a:srgbClr val="E8F5E9"/>
          </a:solidFill>
          <a:ln w="6350">
            <a:solidFill>
              <a:srgbClr val="13AA52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6446520" y="235915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RNF-02</a:t>
            </a:r>
            <a:endParaRPr lang="en-US" sz="900" dirty="0"/>
          </a:p>
        </p:txBody>
      </p:sp>
      <p:sp>
        <p:nvSpPr>
          <p:cNvPr id="50" name="Text 46"/>
          <p:cNvSpPr/>
          <p:nvPr/>
        </p:nvSpPr>
        <p:spPr>
          <a:xfrm>
            <a:off x="7315200" y="23591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 p95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9006840" y="235915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100 ms consulta MV</a:t>
            </a:r>
            <a:endParaRPr lang="en-US" sz="1000" dirty="0"/>
          </a:p>
        </p:txBody>
      </p:sp>
      <p:sp>
        <p:nvSpPr>
          <p:cNvPr id="52" name="Shape 48"/>
          <p:cNvSpPr/>
          <p:nvPr/>
        </p:nvSpPr>
        <p:spPr>
          <a:xfrm>
            <a:off x="6446520" y="2798064"/>
            <a:ext cx="777240" cy="320040"/>
          </a:xfrm>
          <a:prstGeom prst="rect">
            <a:avLst/>
          </a:prstGeom>
          <a:solidFill>
            <a:srgbClr val="E8F5E9"/>
          </a:solidFill>
          <a:ln w="6350">
            <a:solidFill>
              <a:srgbClr val="13AA52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6446520" y="279806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RNF-03</a:t>
            </a:r>
            <a:endParaRPr lang="en-US" sz="900" dirty="0"/>
          </a:p>
        </p:txBody>
      </p:sp>
      <p:sp>
        <p:nvSpPr>
          <p:cNvPr id="54" name="Text 50"/>
          <p:cNvSpPr/>
          <p:nvPr/>
        </p:nvSpPr>
        <p:spPr>
          <a:xfrm>
            <a:off x="7315200" y="279806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</a:t>
            </a:r>
            <a:endParaRPr lang="en-US" sz="1000" dirty="0"/>
          </a:p>
        </p:txBody>
      </p:sp>
      <p:sp>
        <p:nvSpPr>
          <p:cNvPr id="55" name="Text 51"/>
          <p:cNvSpPr/>
          <p:nvPr/>
        </p:nvSpPr>
        <p:spPr>
          <a:xfrm>
            <a:off x="9006840" y="2798064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99.5 % uptime mensual</a:t>
            </a:r>
            <a:endParaRPr lang="en-US" sz="1000" dirty="0"/>
          </a:p>
        </p:txBody>
      </p:sp>
      <p:sp>
        <p:nvSpPr>
          <p:cNvPr id="56" name="Shape 52"/>
          <p:cNvSpPr/>
          <p:nvPr/>
        </p:nvSpPr>
        <p:spPr>
          <a:xfrm>
            <a:off x="6446520" y="3236976"/>
            <a:ext cx="777240" cy="320040"/>
          </a:xfrm>
          <a:prstGeom prst="rect">
            <a:avLst/>
          </a:prstGeom>
          <a:solidFill>
            <a:srgbClr val="E8F5E9"/>
          </a:solidFill>
          <a:ln w="6350">
            <a:solidFill>
              <a:srgbClr val="13AA52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6446520" y="3236976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RNF-04</a:t>
            </a:r>
            <a:endParaRPr lang="en-US" sz="900" dirty="0"/>
          </a:p>
        </p:txBody>
      </p:sp>
      <p:sp>
        <p:nvSpPr>
          <p:cNvPr id="58" name="Text 54"/>
          <p:cNvSpPr/>
          <p:nvPr/>
        </p:nvSpPr>
        <p:spPr>
          <a:xfrm>
            <a:off x="7315200" y="323697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Consistencia</a:t>
            </a:r>
            <a:endParaRPr lang="en-US" sz="1000" dirty="0"/>
          </a:p>
        </p:txBody>
      </p:sp>
      <p:sp>
        <p:nvSpPr>
          <p:cNvPr id="59" name="Text 55"/>
          <p:cNvSpPr/>
          <p:nvPr/>
        </p:nvSpPr>
        <p:spPr>
          <a:xfrm>
            <a:off x="9006840" y="3236976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 FK válidas (pagos)</a:t>
            </a:r>
            <a:endParaRPr lang="en-US" sz="1000" dirty="0"/>
          </a:p>
        </p:txBody>
      </p:sp>
      <p:sp>
        <p:nvSpPr>
          <p:cNvPr id="60" name="Shape 56"/>
          <p:cNvSpPr/>
          <p:nvPr/>
        </p:nvSpPr>
        <p:spPr>
          <a:xfrm>
            <a:off x="6446520" y="3675888"/>
            <a:ext cx="777240" cy="320040"/>
          </a:xfrm>
          <a:prstGeom prst="rect">
            <a:avLst/>
          </a:prstGeom>
          <a:solidFill>
            <a:srgbClr val="E8F5E9"/>
          </a:solidFill>
          <a:ln w="6350">
            <a:solidFill>
              <a:srgbClr val="13AA52"/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6446520" y="367588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RNF-05</a:t>
            </a:r>
            <a:endParaRPr lang="en-US" sz="900" dirty="0"/>
          </a:p>
        </p:txBody>
      </p:sp>
      <p:sp>
        <p:nvSpPr>
          <p:cNvPr id="62" name="Text 58"/>
          <p:cNvSpPr/>
          <p:nvPr/>
        </p:nvSpPr>
        <p:spPr>
          <a:xfrm>
            <a:off x="7315200" y="36758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</a:t>
            </a:r>
            <a:endParaRPr lang="en-US" sz="1000" dirty="0"/>
          </a:p>
        </p:txBody>
      </p:sp>
      <p:sp>
        <p:nvSpPr>
          <p:cNvPr id="63" name="Text 59"/>
          <p:cNvSpPr/>
          <p:nvPr/>
        </p:nvSpPr>
        <p:spPr>
          <a:xfrm>
            <a:off x="9006840" y="367588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1.2 TPS sostenidos</a:t>
            </a:r>
            <a:endParaRPr lang="en-US" sz="1000" dirty="0"/>
          </a:p>
        </p:txBody>
      </p:sp>
      <p:sp>
        <p:nvSpPr>
          <p:cNvPr id="64" name="Shape 60"/>
          <p:cNvSpPr/>
          <p:nvPr/>
        </p:nvSpPr>
        <p:spPr>
          <a:xfrm>
            <a:off x="6446520" y="4114800"/>
            <a:ext cx="777240" cy="320040"/>
          </a:xfrm>
          <a:prstGeom prst="rect">
            <a:avLst/>
          </a:prstGeom>
          <a:solidFill>
            <a:srgbClr val="E8F5E9"/>
          </a:solidFill>
          <a:ln w="6350">
            <a:solidFill>
              <a:srgbClr val="13AA52"/>
            </a:solidFill>
            <a:prstDash val="solid"/>
          </a:ln>
        </p:spPr>
      </p:sp>
      <p:sp>
        <p:nvSpPr>
          <p:cNvPr id="65" name="Text 61"/>
          <p:cNvSpPr/>
          <p:nvPr/>
        </p:nvSpPr>
        <p:spPr>
          <a:xfrm>
            <a:off x="6446520" y="411480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RNF-06</a:t>
            </a:r>
            <a:endParaRPr lang="en-US" sz="900" dirty="0"/>
          </a:p>
        </p:txBody>
      </p:sp>
      <p:sp>
        <p:nvSpPr>
          <p:cNvPr id="66" name="Text 62"/>
          <p:cNvSpPr/>
          <p:nvPr/>
        </p:nvSpPr>
        <p:spPr>
          <a:xfrm>
            <a:off x="7315200" y="4114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</a:t>
            </a:r>
            <a:endParaRPr lang="en-US" sz="1000" dirty="0"/>
          </a:p>
        </p:txBody>
      </p:sp>
      <p:sp>
        <p:nvSpPr>
          <p:cNvPr id="67" name="Text 63"/>
          <p:cNvSpPr/>
          <p:nvPr/>
        </p:nvSpPr>
        <p:spPr>
          <a:xfrm>
            <a:off x="9006840" y="41148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 s failover PG</a:t>
            </a:r>
            <a:endParaRPr lang="en-US" sz="1000" dirty="0"/>
          </a:p>
        </p:txBody>
      </p:sp>
      <p:sp>
        <p:nvSpPr>
          <p:cNvPr id="68" name="Shape 64"/>
          <p:cNvSpPr/>
          <p:nvPr/>
        </p:nvSpPr>
        <p:spPr>
          <a:xfrm>
            <a:off x="6446520" y="4553712"/>
            <a:ext cx="777240" cy="320040"/>
          </a:xfrm>
          <a:prstGeom prst="rect">
            <a:avLst/>
          </a:prstGeom>
          <a:solidFill>
            <a:srgbClr val="E8F5E9"/>
          </a:solidFill>
          <a:ln w="6350">
            <a:solidFill>
              <a:srgbClr val="13AA52"/>
            </a:solidFill>
            <a:prstDash val="solid"/>
          </a:ln>
        </p:spPr>
      </p:sp>
      <p:sp>
        <p:nvSpPr>
          <p:cNvPr id="69" name="Text 65"/>
          <p:cNvSpPr/>
          <p:nvPr/>
        </p:nvSpPr>
        <p:spPr>
          <a:xfrm>
            <a:off x="6446520" y="455371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RNF-07</a:t>
            </a:r>
            <a:endParaRPr lang="en-US" sz="900" dirty="0"/>
          </a:p>
        </p:txBody>
      </p:sp>
      <p:sp>
        <p:nvSpPr>
          <p:cNvPr id="70" name="Text 66"/>
          <p:cNvSpPr/>
          <p:nvPr/>
        </p:nvSpPr>
        <p:spPr>
          <a:xfrm>
            <a:off x="7315200" y="455371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</a:t>
            </a:r>
            <a:endParaRPr lang="en-US" sz="1000" dirty="0"/>
          </a:p>
        </p:txBody>
      </p:sp>
      <p:sp>
        <p:nvSpPr>
          <p:cNvPr id="71" name="Text 67"/>
          <p:cNvSpPr/>
          <p:nvPr/>
        </p:nvSpPr>
        <p:spPr>
          <a:xfrm>
            <a:off x="9006840" y="455371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transacciones perdidas</a:t>
            </a:r>
            <a:endParaRPr lang="en-US" sz="1000" dirty="0"/>
          </a:p>
        </p:txBody>
      </p:sp>
      <p:sp>
        <p:nvSpPr>
          <p:cNvPr id="72" name="Shape 68"/>
          <p:cNvSpPr/>
          <p:nvPr/>
        </p:nvSpPr>
        <p:spPr>
          <a:xfrm>
            <a:off x="6446520" y="4992624"/>
            <a:ext cx="777240" cy="320040"/>
          </a:xfrm>
          <a:prstGeom prst="rect">
            <a:avLst/>
          </a:prstGeom>
          <a:solidFill>
            <a:srgbClr val="E8F5E9"/>
          </a:solidFill>
          <a:ln w="6350">
            <a:solidFill>
              <a:srgbClr val="13AA52"/>
            </a:solidFill>
            <a:prstDash val="solid"/>
          </a:ln>
        </p:spPr>
      </p:sp>
      <p:sp>
        <p:nvSpPr>
          <p:cNvPr id="73" name="Text 69"/>
          <p:cNvSpPr/>
          <p:nvPr/>
        </p:nvSpPr>
        <p:spPr>
          <a:xfrm>
            <a:off x="6446520" y="499262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RNF-08</a:t>
            </a:r>
            <a:endParaRPr lang="en-US" sz="900" dirty="0"/>
          </a:p>
        </p:txBody>
      </p:sp>
      <p:sp>
        <p:nvSpPr>
          <p:cNvPr id="74" name="Text 70"/>
          <p:cNvSpPr/>
          <p:nvPr/>
        </p:nvSpPr>
        <p:spPr>
          <a:xfrm>
            <a:off x="7315200" y="499262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000" dirty="0"/>
          </a:p>
        </p:txBody>
      </p:sp>
      <p:sp>
        <p:nvSpPr>
          <p:cNvPr id="75" name="Text 71"/>
          <p:cNvSpPr/>
          <p:nvPr/>
        </p:nvSpPr>
        <p:spPr>
          <a:xfrm>
            <a:off x="9006840" y="4992624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cost 12 + pgp_sym</a:t>
            </a:r>
            <a:endParaRPr lang="en-US" sz="1000" dirty="0"/>
          </a:p>
        </p:txBody>
      </p:sp>
      <p:sp>
        <p:nvSpPr>
          <p:cNvPr id="76" name="Shape 72"/>
          <p:cNvSpPr/>
          <p:nvPr/>
        </p:nvSpPr>
        <p:spPr>
          <a:xfrm>
            <a:off x="6446520" y="5431536"/>
            <a:ext cx="777240" cy="320040"/>
          </a:xfrm>
          <a:prstGeom prst="rect">
            <a:avLst/>
          </a:prstGeom>
          <a:solidFill>
            <a:srgbClr val="E8F5E9"/>
          </a:solidFill>
          <a:ln w="6350">
            <a:solidFill>
              <a:srgbClr val="13AA52"/>
            </a:solidFill>
            <a:prstDash val="solid"/>
          </a:ln>
        </p:spPr>
      </p:sp>
      <p:sp>
        <p:nvSpPr>
          <p:cNvPr id="77" name="Text 73"/>
          <p:cNvSpPr/>
          <p:nvPr/>
        </p:nvSpPr>
        <p:spPr>
          <a:xfrm>
            <a:off x="6446520" y="5431536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RNF-09</a:t>
            </a:r>
            <a:endParaRPr lang="en-US" sz="900" dirty="0"/>
          </a:p>
        </p:txBody>
      </p:sp>
      <p:sp>
        <p:nvSpPr>
          <p:cNvPr id="78" name="Text 74"/>
          <p:cNvSpPr/>
          <p:nvPr/>
        </p:nvSpPr>
        <p:spPr>
          <a:xfrm>
            <a:off x="7315200" y="543153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Mantenibilidad</a:t>
            </a:r>
            <a:endParaRPr lang="en-US" sz="1000" dirty="0"/>
          </a:p>
        </p:txBody>
      </p:sp>
      <p:sp>
        <p:nvSpPr>
          <p:cNvPr id="79" name="Text 75"/>
          <p:cNvSpPr/>
          <p:nvPr/>
        </p:nvSpPr>
        <p:spPr>
          <a:xfrm>
            <a:off x="9006840" y="5431536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versionado en Git</a:t>
            </a:r>
            <a:endParaRPr lang="en-US" sz="1000" dirty="0"/>
          </a:p>
        </p:txBody>
      </p:sp>
      <p:sp>
        <p:nvSpPr>
          <p:cNvPr id="80" name="Shape 76"/>
          <p:cNvSpPr/>
          <p:nvPr/>
        </p:nvSpPr>
        <p:spPr>
          <a:xfrm>
            <a:off x="6446520" y="5870448"/>
            <a:ext cx="777240" cy="320040"/>
          </a:xfrm>
          <a:prstGeom prst="rect">
            <a:avLst/>
          </a:prstGeom>
          <a:solidFill>
            <a:srgbClr val="E8F5E9"/>
          </a:solidFill>
          <a:ln w="6350">
            <a:solidFill>
              <a:srgbClr val="13AA52"/>
            </a:solidFill>
            <a:prstDash val="solid"/>
          </a:ln>
        </p:spPr>
      </p:sp>
      <p:sp>
        <p:nvSpPr>
          <p:cNvPr id="81" name="Text 77"/>
          <p:cNvSpPr/>
          <p:nvPr/>
        </p:nvSpPr>
        <p:spPr>
          <a:xfrm>
            <a:off x="6446520" y="587044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RNF-10</a:t>
            </a:r>
            <a:endParaRPr lang="en-US" sz="900" dirty="0"/>
          </a:p>
        </p:txBody>
      </p:sp>
      <p:sp>
        <p:nvSpPr>
          <p:cNvPr id="82" name="Text 78"/>
          <p:cNvSpPr/>
          <p:nvPr/>
        </p:nvSpPr>
        <p:spPr>
          <a:xfrm>
            <a:off x="7315200" y="58704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</a:t>
            </a:r>
            <a:endParaRPr lang="en-US" sz="1000" dirty="0"/>
          </a:p>
        </p:txBody>
      </p:sp>
      <p:sp>
        <p:nvSpPr>
          <p:cNvPr id="83" name="Text 79"/>
          <p:cNvSpPr/>
          <p:nvPr/>
        </p:nvSpPr>
        <p:spPr>
          <a:xfrm>
            <a:off x="9006840" y="587044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500 MB Supabase + 512 MB Atlas</a:t>
            </a:r>
            <a:endParaRPr lang="en-US" sz="1000" dirty="0"/>
          </a:p>
        </p:txBody>
      </p:sp>
      <p:sp>
        <p:nvSpPr>
          <p:cNvPr id="84" name="Shape 80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1B3D"/>
          </a:solidFill>
          <a:ln w="12700">
            <a:solidFill>
              <a:srgbClr val="0A1B3D"/>
            </a:solidFill>
            <a:prstDash val="solid"/>
          </a:ln>
        </p:spPr>
      </p:sp>
      <p:sp>
        <p:nvSpPr>
          <p:cNvPr id="85" name="Text 81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Ecommify · Diseño Conceptual y Lógico · Universidad de La Sabana</a:t>
            </a:r>
            <a:endParaRPr lang="en-US" sz="900" dirty="0"/>
          </a:p>
        </p:txBody>
      </p:sp>
      <p:sp>
        <p:nvSpPr>
          <p:cNvPr id="86" name="Text 82"/>
          <p:cNvSpPr/>
          <p:nvPr/>
        </p:nvSpPr>
        <p:spPr>
          <a:xfrm>
            <a:off x="10972800" y="6583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274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Entidad-Relación PostgreSQL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05840" y="7498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tablas · Normalización 3FN/FNBC · Notación crow's foot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219456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80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2194560" cy="914400"/>
          </a:xfrm>
          <a:prstGeom prst="rect">
            <a:avLst/>
          </a:prstGeom>
          <a:solidFill>
            <a:srgbClr val="E0E7FF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1664208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zip_code_prefix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12648" y="1847088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lat, lng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2648" y="2029968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city, state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12648" y="2212848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219456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200400"/>
            <a:ext cx="2194560" cy="1051560"/>
          </a:xfrm>
          <a:prstGeom prst="rect">
            <a:avLst/>
          </a:prstGeom>
          <a:solidFill>
            <a:srgbClr val="E3F2FD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" y="3218688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customer_id (UUID)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2648" y="3401568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customer_unique_id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2648" y="3584448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zip_code_prefix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2648" y="3767328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city, state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12648" y="3950208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shipping_address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0" y="2286000"/>
            <a:ext cx="2377440" cy="36576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2286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(HECHOS)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0" y="2651760"/>
            <a:ext cx="2377440" cy="1965960"/>
          </a:xfrm>
          <a:prstGeom prst="rect">
            <a:avLst/>
          </a:prstGeom>
          <a:solidFill>
            <a:srgbClr val="FFF8E1"/>
          </a:solidFill>
          <a:ln w="6350">
            <a:solidFill>
              <a:srgbClr val="F9A82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64408" y="2670048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order_id (UUID)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64408" y="2852928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purchase_timestamp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64408" y="3035808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customer_id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64408" y="3218688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order_status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64408" y="3401568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approved_at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64408" y="3584448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delivered_carrier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64408" y="3767328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delivered_customer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264408" y="3950208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estimated_delivery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64408" y="4133088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PARTITION RANGE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26480" y="2286000"/>
            <a:ext cx="228600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26480" y="2651760"/>
            <a:ext cx="2286000" cy="1280160"/>
          </a:xfrm>
          <a:prstGeom prst="rect">
            <a:avLst/>
          </a:prstGeom>
          <a:solidFill>
            <a:srgbClr val="E3F2FD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90488" y="2670048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order_id, item_id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190488" y="2852928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product_id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190488" y="3035808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seller_id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190488" y="3218688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NUMERIC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190488" y="3401568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freight_value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190488" y="3584448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shipping_limit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961120" y="1280160"/>
            <a:ext cx="274320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96112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961120" y="1645920"/>
            <a:ext cx="2743200" cy="1463040"/>
          </a:xfrm>
          <a:prstGeom prst="rect">
            <a:avLst/>
          </a:prstGeom>
          <a:solidFill>
            <a:srgbClr val="E3F2FD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025128" y="1664208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product_id (UUID)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025128" y="1847088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category_name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9025128" y="2029968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weight_g, dims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025128" y="2212848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🟦 specifications JSONB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9025128" y="2395728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🟦 photos TEXT[]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9025128" y="2578608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🟦 tags TEXT[]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961120" y="3291840"/>
            <a:ext cx="274320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961120" y="3291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961120" y="3657600"/>
            <a:ext cx="2743200" cy="457200"/>
          </a:xfrm>
          <a:prstGeom prst="rect">
            <a:avLst/>
          </a:prstGeom>
          <a:solidFill>
            <a:srgbClr val="E0E7FF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025128" y="3675888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category_name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9025128" y="3858768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name_english (3FN)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8961120" y="4297680"/>
            <a:ext cx="274320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961120" y="4297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961120" y="4663440"/>
            <a:ext cx="2743200" cy="548640"/>
          </a:xfrm>
          <a:prstGeom prst="rect">
            <a:avLst/>
          </a:prstGeom>
          <a:solidFill>
            <a:srgbClr val="E3F2FD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025128" y="4681728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seller_id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9025128" y="4864608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zip_code_prefix (sin FK)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9025128" y="5047488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city, state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00400" y="4846320"/>
            <a:ext cx="237744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00400" y="4846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ORDER_PAYMENTS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3200400" y="5212080"/>
            <a:ext cx="2377440" cy="868680"/>
          </a:xfrm>
          <a:prstGeom prst="rect">
            <a:avLst/>
          </a:prstGeom>
          <a:solidFill>
            <a:srgbClr val="E3F2FD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264408" y="5230368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order_id, seq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3264408" y="5413248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payment_type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3264408" y="5596128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installments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3264408" y="5779008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payment_value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126480" y="4846320"/>
            <a:ext cx="228600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126480" y="4846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6126480" y="5212080"/>
            <a:ext cx="2286000" cy="868680"/>
          </a:xfrm>
          <a:prstGeom prst="rect">
            <a:avLst/>
          </a:prstGeom>
          <a:solidFill>
            <a:srgbClr val="E3F2FD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190488" y="5230368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review_id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6190488" y="5413248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order_id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6190488" y="5596128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review_score (1-5)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6190488" y="5779008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title?, message? (41%)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1645920" y="2560320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743200" y="3456432"/>
            <a:ext cx="4572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577840" y="3108960"/>
            <a:ext cx="54864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412480" y="3108960"/>
            <a:ext cx="54864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332720" y="3108960"/>
            <a:ext cx="0" cy="1828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961120" y="3931920"/>
            <a:ext cx="-54864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389120" y="4617720"/>
            <a:ext cx="0" cy="2286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577840" y="4114800"/>
            <a:ext cx="1691640" cy="7315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1B3D"/>
          </a:solidFill>
          <a:ln w="12700">
            <a:solidFill>
              <a:srgbClr val="0A1B3D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Ecommify · Diseño Conceptual y Lógico · Universidad de La Sabana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10972800" y="6583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274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Relacional — Tipos y Restricciones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05840" y="7498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por tabla con tipos de datos y constraints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1179576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801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1280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/ Tipo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23360" y="12801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 clave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63840" y="12801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avanzados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691640"/>
            <a:ext cx="1179576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6916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20240" y="1691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0" y="1691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customer_unique_id, zip, state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955280" y="1691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(composite)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148840"/>
            <a:ext cx="11795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1488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20240" y="2148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0" y="2148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zip, city, state (sin FK geo)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955280" y="2148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606040"/>
            <a:ext cx="1179576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6060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20240" y="2606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0" y="2606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dims, weight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55280" y="2606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JSONB, TEXT[], composite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063240"/>
            <a:ext cx="11795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0632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920240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0" y="3063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lat, lng, city, state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955280" y="3063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GEOGRAPHY(POINT,4326)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3520440"/>
            <a:ext cx="11795760" cy="457200"/>
          </a:xfrm>
          <a:prstGeom prst="rect">
            <a:avLst/>
          </a:prstGeom>
          <a:solidFill>
            <a:srgbClr val="FFF8E1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5204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920240" y="3520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 + timestamp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114800" y="3520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purchase_ts, delivered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955280" y="35204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JSONB audit_log · PARTITION RANGE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3977640"/>
            <a:ext cx="11795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9776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920240" y="3977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compuesta (3)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114800" y="3977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product_id, seller_id, price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955280" y="3977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NUMERIC(10,2)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65760" y="4434840"/>
            <a:ext cx="1179576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4348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order_payments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920240" y="4434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compuesta (3)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114800" y="4434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installments, value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955280" y="4434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domain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65760" y="4892040"/>
            <a:ext cx="11795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8920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920240" y="4892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114800" y="4892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score, title?, message? (41%)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955280" y="4892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(nullable)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65760" y="5349240"/>
            <a:ext cx="11795760" cy="457200"/>
          </a:xfrm>
          <a:prstGeom prst="rect">
            <a:avLst/>
          </a:prstGeom>
          <a:solidFill>
            <a:srgbClr val="FFF8E1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53492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920240" y="5349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114800" y="5349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product_id, discount_pct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955280" y="5349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TSTZRANGE + EXCLUDE GIST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365760" y="608076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Todas las tablas con updated_at gestionado por trigger reutilizable set_updated_at()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1B3D"/>
          </a:solidFill>
          <a:ln w="12700">
            <a:solidFill>
              <a:srgbClr val="0A1B3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Ecommify · Diseño Conceptual y Lógico · Universidad de La Sabana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0972800" y="6583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274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Datos Avanzados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05840" y="7498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del modelo relacional clásico — aplicación en Ecommify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56235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80160"/>
            <a:ext cx="91440" cy="2331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JSONB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17373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products.specifications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0574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categorías con atributos heterogéneos. Schema flexible evita columnas NULL masivas.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834640"/>
            <a:ext cx="521208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852928"/>
            <a:ext cx="5029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0E5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specifications JSONB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0E5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índice GIN jsonb_path_ops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0E5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specs @&gt; '{"resolution":"4K"}'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1280160"/>
            <a:ext cx="56235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1280160"/>
            <a:ext cx="91440" cy="2331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46520" y="17373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products.photos / tags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46520" y="20574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ordenadas y etiquetas. Operadores @&gt;, &amp;&amp; con índice GIN. Sin tabla intermedia.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2834640"/>
            <a:ext cx="521208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2852928"/>
            <a:ext cx="5029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0E5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photos TEXT[]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0E5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tags   TEXT[]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0E5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tags &amp;&amp; ['samsung','lg']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822192"/>
            <a:ext cx="56235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822192"/>
            <a:ext cx="91440" cy="23317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9136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TSTZRANGE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0080" y="42793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promotions.period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4599432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de promoción. Operador @&gt; con índice GIST. EXCLUDE previene solapamientos.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376672"/>
            <a:ext cx="521208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394960"/>
            <a:ext cx="5029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0E5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period TSTZRANGE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0E5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EXCLUDE USING GIST (product_id WITH =, period WITH &amp;&amp;)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72200" y="3822192"/>
            <a:ext cx="56235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72200" y="3822192"/>
            <a:ext cx="91440" cy="23317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39136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446520" y="42793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address, dimensions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46520" y="4599432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reutilizables entre tablas. Encapsula múltiples campos en una columna.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46520" y="5376672"/>
            <a:ext cx="521208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37960" y="5394960"/>
            <a:ext cx="5029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0E5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TYPE address AS (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0E5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street TEXT, city VARCHAR(60),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0E5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state CHAR(2), zip INT, country CHAR(2))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1B3D"/>
          </a:solidFill>
          <a:ln w="12700">
            <a:solidFill>
              <a:srgbClr val="0A1B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Ecommify · Diseño Conceptual y Lógico · Universidad de La Sabana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72800" y="6583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274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Extensiones de PostgreSQL Adoptadas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05840" y="7498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 nativas sin modificar el núcleo del motor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11430000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731520" cy="731520"/>
          </a:xfrm>
          <a:prstGeom prst="ellipse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627632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4447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PostGIS 3.4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417320" y="18105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geoespacial sobre GEOGRAPHY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937760" y="144475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 cliente↔depósito en metros usando ST_Distance con índice GiST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732520" y="1600200"/>
            <a:ext cx="301752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96528" y="16276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E5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ST_DWithin(c.location, w.location, 50000)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65760" y="2514600"/>
            <a:ext cx="114300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8640" y="2697480"/>
            <a:ext cx="731520" cy="731520"/>
          </a:xfrm>
          <a:prstGeom prst="ellipse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862072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417320" y="26791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pg_trgm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1417320" y="3044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fuzzy con trigramas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937760" y="267919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tolerantes a typos: 'samsumg' encuentra 'samsung' con índice GIN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8732520" y="2834640"/>
            <a:ext cx="301752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796528" y="28620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E5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product_category_name % 'celular'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365760" y="3749040"/>
            <a:ext cx="11430000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48640" y="3931920"/>
            <a:ext cx="731520" cy="731520"/>
          </a:xfrm>
          <a:prstGeom prst="ellipse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096512"/>
            <a:ext cx="411480" cy="4114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417320" y="39136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pgcrypto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1417320" y="42793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y cifrado simétrico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4937760" y="391363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cost 12 para passwords + pgp_sym_encrypt para campos sensibles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8732520" y="4069080"/>
            <a:ext cx="301752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8796528" y="40965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E5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crypt(password, gen_salt('bf', 12))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365760" y="4983480"/>
            <a:ext cx="114300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548640" y="5166360"/>
            <a:ext cx="731520" cy="731520"/>
          </a:xfrm>
          <a:prstGeom prst="ellipse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330952"/>
            <a:ext cx="411480" cy="41148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417320" y="51480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btree_gin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1417320" y="55138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 GIN multi-columna mixtos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4937760" y="514807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Combinar JSONB + escalar: specs @&gt; X AND category = Y en una sola búsqueda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8732520" y="5303520"/>
            <a:ext cx="301752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8796528" y="53309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E5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INDEX ... USING GIN (specs, category)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1B3D"/>
          </a:solidFill>
          <a:ln w="12700">
            <a:solidFill>
              <a:srgbClr val="0A1B3D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Ecommify · Diseño Conceptual y Lógico · Universidad de La Sabana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10972800" y="6583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274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MongoDB — 4 Colecciones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05840" y="7498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flexible (AP) complementa al núcleo transaccional PostgreSQL (CP)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5623560" cy="2331720"/>
          </a:xfrm>
          <a:prstGeom prst="rect">
            <a:avLst/>
          </a:prstGeom>
          <a:solidFill>
            <a:srgbClr val="FFF8E1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444752"/>
            <a:ext cx="1188720" cy="27432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447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ETL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892040" y="1417320"/>
            <a:ext cx="868680" cy="8686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9A82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64592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4360" y="17830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orders_summary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94360" y="224028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analítica desnormalizada de la orden completa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" y="265176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 = order_id de PostgreSQL</a:t>
            </a:r>
            <a:endParaRPr lang="en-US" sz="11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Embedded: customer{}, items[]</a:t>
            </a:r>
            <a:endParaRPr lang="en-US" sz="11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 key: hashed(_id)</a:t>
            </a:r>
            <a:endParaRPr lang="en-US" sz="11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nightly + incremental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72200" y="1280160"/>
            <a:ext cx="5623560" cy="2331720"/>
          </a:xfrm>
          <a:prstGeom prst="rect">
            <a:avLst/>
          </a:prstGeom>
          <a:solidFill>
            <a:srgbClr val="F3E8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00800" y="1444752"/>
            <a:ext cx="118872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0" y="14447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CSV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10698480" y="1417320"/>
            <a:ext cx="868680" cy="8686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1645920"/>
            <a:ext cx="411480" cy="4114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400800" y="17830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6400800" y="224028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Reseñas con esquema flexible (41% nulos)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446520" y="265176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comment_title? opcional</a:t>
            </a:r>
            <a:endParaRPr lang="en-US" sz="11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comment_message? opcional</a:t>
            </a:r>
            <a:endParaRPr lang="en-US" sz="11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text para búsqueda</a:t>
            </a:r>
            <a:endParaRPr lang="en-US" sz="11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ETL ongoing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65760" y="3794760"/>
            <a:ext cx="5623560" cy="2331720"/>
          </a:xfrm>
          <a:prstGeom prst="rect">
            <a:avLst/>
          </a:prstGeom>
          <a:solidFill>
            <a:srgbClr val="E8F5E9"/>
          </a:solidFill>
          <a:ln w="19050">
            <a:solidFill>
              <a:srgbClr val="13AA5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94360" y="3959352"/>
            <a:ext cx="1188720" cy="274320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94360" y="39593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← PG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4892040" y="3931920"/>
            <a:ext cx="868680" cy="8686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3AA52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4160520"/>
            <a:ext cx="411480" cy="41148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94360" y="42976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products_catalog</a:t>
            </a:r>
            <a:endParaRPr lang="en-US" sz="2200" dirty="0"/>
          </a:p>
        </p:txBody>
      </p:sp>
      <p:sp>
        <p:nvSpPr>
          <p:cNvPr id="28" name="Text 23"/>
          <p:cNvSpPr/>
          <p:nvPr/>
        </p:nvSpPr>
        <p:spPr>
          <a:xfrm>
            <a:off x="594360" y="475488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desnormalizado con category embebida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640080" y="516636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 = product_id de PG</a:t>
            </a:r>
            <a:endParaRPr lang="en-US" sz="11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{ name_pt, name_en } embebido</a:t>
            </a:r>
            <a:endParaRPr lang="en-US" sz="11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JOIN en lectura</a:t>
            </a:r>
            <a:endParaRPr lang="en-US" sz="11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upsert on change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6172200" y="3794760"/>
            <a:ext cx="5623560" cy="2331720"/>
          </a:xfrm>
          <a:prstGeom prst="rect">
            <a:avLst/>
          </a:prstGeom>
          <a:solidFill>
            <a:srgbClr val="ECFE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400800" y="3959352"/>
            <a:ext cx="118872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400800" y="39593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CSV</a:t>
            </a:r>
            <a:endParaRPr lang="en-US" sz="800" dirty="0"/>
          </a:p>
        </p:txBody>
      </p:sp>
      <p:sp>
        <p:nvSpPr>
          <p:cNvPr id="33" name="Shape 28"/>
          <p:cNvSpPr/>
          <p:nvPr/>
        </p:nvSpPr>
        <p:spPr>
          <a:xfrm>
            <a:off x="10698480" y="3931920"/>
            <a:ext cx="868680" cy="8686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7080" y="4160520"/>
            <a:ext cx="411480" cy="41148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400800" y="42976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</a:t>
            </a:r>
            <a:endParaRPr lang="en-US" sz="2200" dirty="0"/>
          </a:p>
        </p:txBody>
      </p:sp>
      <p:sp>
        <p:nvSpPr>
          <p:cNvPr id="36" name="Text 30"/>
          <p:cNvSpPr/>
          <p:nvPr/>
        </p:nvSpPr>
        <p:spPr>
          <a:xfrm>
            <a:off x="6400800" y="475488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Coords geoespaciales con índice 2dsphere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6446520" y="516636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GeoJSON Point</a:t>
            </a:r>
            <a:endParaRPr lang="en-US" sz="11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1M+ documentos</a:t>
            </a:r>
            <a:endParaRPr lang="en-US" sz="11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2dsphere nativo</a:t>
            </a:r>
            <a:endParaRPr lang="en-US" sz="11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near, geoWithin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1B3D"/>
          </a:solidFill>
          <a:ln w="12700">
            <a:solidFill>
              <a:srgbClr val="0A1B3D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Ecommify · Diseño Conceptual y Lógico · Universidad de La Sabana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10972800" y="6583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274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Decisión por Entidad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05840" y="7498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 PostgreSQL vs MongoDB con criterios cuantitativos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9281160" cy="42062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8016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20240" y="128016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Nulos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34640" y="128016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11880" y="128016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26280" y="128016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Vol. Lect.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532120" y="128016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Esq. Flex.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37960" y="128016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41080" y="128016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9281160" cy="420624"/>
          </a:xfrm>
          <a:prstGeom prst="rect">
            <a:avLst/>
          </a:prstGeom>
          <a:solidFill>
            <a:srgbClr val="FAFB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70078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20240" y="170078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34640" y="1700784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11880" y="170078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26280" y="170078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32120" y="170078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83680" y="1746504"/>
            <a:ext cx="2011680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170078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41080" y="170078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2121408"/>
            <a:ext cx="9281160" cy="420624"/>
          </a:xfrm>
          <a:prstGeom prst="rect">
            <a:avLst/>
          </a:prstGeom>
          <a:solidFill>
            <a:srgbClr val="E3F2FD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12140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920240" y="212140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834640" y="2121408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11880" y="212140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26280" y="2121408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32120" y="2121408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583680" y="2167128"/>
            <a:ext cx="2011680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37960" y="212140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641080" y="2121408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2542032"/>
            <a:ext cx="9281160" cy="420624"/>
          </a:xfrm>
          <a:prstGeom prst="rect">
            <a:avLst/>
          </a:prstGeom>
          <a:solidFill>
            <a:srgbClr val="FAFB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254203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order_payments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920240" y="254203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834640" y="2542032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11880" y="254203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26280" y="254203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532120" y="254203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583680" y="2587752"/>
            <a:ext cx="2011680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2542032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641080" y="254203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65760" y="2962656"/>
            <a:ext cx="9281160" cy="420624"/>
          </a:xfrm>
          <a:prstGeom prst="rect">
            <a:avLst/>
          </a:prstGeom>
          <a:solidFill>
            <a:srgbClr val="E3F2FD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29626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920240" y="2962656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834640" y="2962656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611880" y="2962656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526280" y="296265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532120" y="296265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583680" y="3008376"/>
            <a:ext cx="2011680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37960" y="2962656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641080" y="296265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65760" y="3383280"/>
            <a:ext cx="9281160" cy="420624"/>
          </a:xfrm>
          <a:prstGeom prst="rect">
            <a:avLst/>
          </a:prstGeom>
          <a:solidFill>
            <a:srgbClr val="FAFB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338328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1920240" y="338328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2834640" y="338328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3611880" y="338328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526280" y="338328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532120" y="338328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583680" y="3429000"/>
            <a:ext cx="2011680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537960" y="338328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641080" y="338328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365760" y="3803904"/>
            <a:ext cx="9281160" cy="420624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7200" y="380390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1920240" y="380390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41.1%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2834640" y="3803904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3611880" y="380390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4526280" y="380390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5532120" y="380390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6583680" y="3849624"/>
            <a:ext cx="2011680" cy="329184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537960" y="380390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8641080" y="380390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365760" y="4224528"/>
            <a:ext cx="9281160" cy="420624"/>
          </a:xfrm>
          <a:prstGeom prst="rect">
            <a:avLst/>
          </a:prstGeom>
          <a:solidFill>
            <a:srgbClr val="FAFB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57200" y="422452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1920240" y="422452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2834640" y="4224528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3611880" y="422452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4526280" y="4224528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5532120" y="4224528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6583680" y="4270248"/>
            <a:ext cx="2011680" cy="329184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422452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8641080" y="4224528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365760" y="4645152"/>
            <a:ext cx="9281160" cy="420624"/>
          </a:xfrm>
          <a:prstGeom prst="rect">
            <a:avLst/>
          </a:prstGeom>
          <a:solidFill>
            <a:srgbClr val="FFF8E1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57200" y="464515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1920240" y="464515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0.8%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2834640" y="4645152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3611880" y="464515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4526280" y="464515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5532120" y="464515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6583680" y="4690872"/>
            <a:ext cx="2011680" cy="32918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537960" y="4645152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Mixta PG+MDB</a:t>
            </a:r>
            <a:endParaRPr lang="en-US" sz="1000" dirty="0"/>
          </a:p>
        </p:txBody>
      </p:sp>
      <p:sp>
        <p:nvSpPr>
          <p:cNvPr id="94" name="Text 92"/>
          <p:cNvSpPr/>
          <p:nvPr/>
        </p:nvSpPr>
        <p:spPr>
          <a:xfrm>
            <a:off x="8641080" y="464515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CP/AP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365760" y="5065776"/>
            <a:ext cx="9281160" cy="420624"/>
          </a:xfrm>
          <a:prstGeom prst="rect">
            <a:avLst/>
          </a:prstGeom>
          <a:solidFill>
            <a:srgbClr val="FAFB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57200" y="50657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orders_summary</a:t>
            </a:r>
            <a:endParaRPr lang="en-US" sz="1100" dirty="0"/>
          </a:p>
        </p:txBody>
      </p:sp>
      <p:sp>
        <p:nvSpPr>
          <p:cNvPr id="97" name="Text 95"/>
          <p:cNvSpPr/>
          <p:nvPr/>
        </p:nvSpPr>
        <p:spPr>
          <a:xfrm>
            <a:off x="1920240" y="5065776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98" name="Text 96"/>
          <p:cNvSpPr/>
          <p:nvPr/>
        </p:nvSpPr>
        <p:spPr>
          <a:xfrm>
            <a:off x="2834640" y="5065776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99" name="Text 97"/>
          <p:cNvSpPr/>
          <p:nvPr/>
        </p:nvSpPr>
        <p:spPr>
          <a:xfrm>
            <a:off x="3611880" y="5065776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00" name="Text 98"/>
          <p:cNvSpPr/>
          <p:nvPr/>
        </p:nvSpPr>
        <p:spPr>
          <a:xfrm>
            <a:off x="4526280" y="506577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01" name="Text 99"/>
          <p:cNvSpPr/>
          <p:nvPr/>
        </p:nvSpPr>
        <p:spPr>
          <a:xfrm>
            <a:off x="5532120" y="506577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02" name="Shape 100"/>
          <p:cNvSpPr/>
          <p:nvPr/>
        </p:nvSpPr>
        <p:spPr>
          <a:xfrm>
            <a:off x="6583680" y="5111496"/>
            <a:ext cx="2011680" cy="329184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537960" y="5065776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000" dirty="0"/>
          </a:p>
        </p:txBody>
      </p:sp>
      <p:sp>
        <p:nvSpPr>
          <p:cNvPr id="104" name="Text 102"/>
          <p:cNvSpPr/>
          <p:nvPr/>
        </p:nvSpPr>
        <p:spPr>
          <a:xfrm>
            <a:off x="8641080" y="506577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</a:t>
            </a:r>
            <a:endParaRPr lang="en-US" sz="1100" dirty="0"/>
          </a:p>
        </p:txBody>
      </p:sp>
      <p:sp>
        <p:nvSpPr>
          <p:cNvPr id="105" name="Text 103"/>
          <p:cNvSpPr/>
          <p:nvPr/>
        </p:nvSpPr>
        <p:spPr>
          <a:xfrm>
            <a:off x="365760" y="56692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Alto · M = Medio · B = Bajo · Criterios: % nulos, FK estricta, consistencia, volumen de lectura, esquema flexible</a:t>
            </a:r>
            <a:endParaRPr lang="en-US" sz="1100" dirty="0"/>
          </a:p>
        </p:txBody>
      </p:sp>
      <p:sp>
        <p:nvSpPr>
          <p:cNvPr id="106" name="Shape 10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1B3D"/>
          </a:solidFill>
          <a:ln w="12700">
            <a:solidFill>
              <a:srgbClr val="0A1B3D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Ecommify · Diseño Conceptual y Lógico · Universidad de La Sabana</a:t>
            </a:r>
            <a:endParaRPr lang="en-US" sz="900" dirty="0"/>
          </a:p>
        </p:txBody>
      </p:sp>
      <p:sp>
        <p:nvSpPr>
          <p:cNvPr id="108" name="Text 106"/>
          <p:cNvSpPr/>
          <p:nvPr/>
        </p:nvSpPr>
        <p:spPr>
          <a:xfrm>
            <a:off x="10972800" y="6583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274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CAP y Arquitectura Híbrida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05840" y="7498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motor cubre su prioridad CAP — el ETL los conecta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TEOREMA CAP (Brewer, 2000)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Imposible garantizar Consistencia + Disponibilidad + Tolerancia a Particiones simultáneamente. Se elige entre sistemas CP y AP, ya que P es inevitable.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606040"/>
            <a:ext cx="5486400" cy="178308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606040"/>
            <a:ext cx="91440" cy="1783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743200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26974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— Sistema CP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280160" y="30632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Consistencia + Tolerancia a Particiones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" y="342900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</a:t>
            </a:r>
            <a:pPr algn="l"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ACID completo para datos transaccionales. Sacrifica disponibilidad durante failover (~30 s). Una orden duplicada = error financiero irreversible.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" y="4526280"/>
            <a:ext cx="5486400" cy="1783080"/>
          </a:xfrm>
          <a:prstGeom prst="rect">
            <a:avLst/>
          </a:prstGeom>
          <a:solidFill>
            <a:srgbClr val="E8F5E9"/>
          </a:solidFill>
          <a:ln w="19050">
            <a:solidFill>
              <a:srgbClr val="13AA5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5760" y="4526280"/>
            <a:ext cx="91440" cy="1783080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663440"/>
            <a:ext cx="502920" cy="5029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280160" y="4617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7.x — Sistema AP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1280160" y="49834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+ Tolerancia a Particiones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40080" y="534924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</a:t>
            </a:r>
            <a:pPr algn="l"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disponibilidad y escalabilidad horizontal. Consistencia eventual en réplicas. Una reseña con 30 s de retraso no es un error de negocio.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263640" y="1280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HÍBRIDA — 4 FLUJOS ETL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263640" y="1691640"/>
            <a:ext cx="1828800" cy="868680"/>
          </a:xfrm>
          <a:prstGeom prst="rect">
            <a:avLst/>
          </a:prstGeom>
          <a:solidFill>
            <a:srgbClr val="E3F2FD"/>
          </a:solidFill>
          <a:ln w="10160">
            <a:solidFill>
              <a:srgbClr val="1565C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263640" y="16916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+ items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+ customers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8138160" y="2125980"/>
            <a:ext cx="1325880" cy="0"/>
          </a:xfrm>
          <a:prstGeom prst="line">
            <a:avLst/>
          </a:prstGeom>
          <a:noFill/>
          <a:ln w="25400">
            <a:solidFill>
              <a:srgbClr val="F9A825"/>
            </a:solidFill>
            <a:prstDash val="solid"/>
            <a:tailEnd type="arrow"/>
          </a:ln>
        </p:spPr>
      </p:sp>
      <p:sp>
        <p:nvSpPr>
          <p:cNvPr id="24" name="Text 20"/>
          <p:cNvSpPr/>
          <p:nvPr/>
        </p:nvSpPr>
        <p:spPr>
          <a:xfrm>
            <a:off x="8138160" y="17830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nightly + incr horario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9509760" y="1691640"/>
            <a:ext cx="2286000" cy="868680"/>
          </a:xfrm>
          <a:prstGeom prst="rect">
            <a:avLst/>
          </a:prstGeom>
          <a:solidFill>
            <a:srgbClr val="E8F5E9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9509760" y="16916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orders_summary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6263640" y="2880360"/>
            <a:ext cx="1828800" cy="868680"/>
          </a:xfrm>
          <a:prstGeom prst="rect">
            <a:avLst/>
          </a:prstGeom>
          <a:solidFill>
            <a:srgbClr val="E3F2FD"/>
          </a:solidFill>
          <a:ln w="10160">
            <a:solidFill>
              <a:srgbClr val="1565C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263640" y="288036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+ categories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8138160" y="3314700"/>
            <a:ext cx="1325880" cy="0"/>
          </a:xfrm>
          <a:prstGeom prst="line">
            <a:avLst/>
          </a:prstGeom>
          <a:noFill/>
          <a:ln w="25400">
            <a:solidFill>
              <a:srgbClr val="13AA52"/>
            </a:solidFill>
            <a:prstDash val="solid"/>
            <a:tailEnd type="arrow"/>
          </a:ln>
        </p:spPr>
      </p:sp>
      <p:sp>
        <p:nvSpPr>
          <p:cNvPr id="30" name="Text 26"/>
          <p:cNvSpPr/>
          <p:nvPr/>
        </p:nvSpPr>
        <p:spPr>
          <a:xfrm>
            <a:off x="8138160" y="29718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 on change</a:t>
            </a:r>
            <a:endParaRPr lang="en-US" sz="800" dirty="0"/>
          </a:p>
        </p:txBody>
      </p:sp>
      <p:sp>
        <p:nvSpPr>
          <p:cNvPr id="31" name="Shape 27"/>
          <p:cNvSpPr/>
          <p:nvPr/>
        </p:nvSpPr>
        <p:spPr>
          <a:xfrm>
            <a:off x="9509760" y="2880360"/>
            <a:ext cx="2286000" cy="868680"/>
          </a:xfrm>
          <a:prstGeom prst="rect">
            <a:avLst/>
          </a:prstGeom>
          <a:solidFill>
            <a:srgbClr val="E8F5E9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9509760" y="28803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A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products_catalog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6263640" y="4069080"/>
            <a:ext cx="1828800" cy="868680"/>
          </a:xfrm>
          <a:prstGeom prst="rect">
            <a:avLst/>
          </a:prstGeom>
          <a:solidFill>
            <a:srgbClr val="E3F2FD"/>
          </a:solidFill>
          <a:ln w="10160">
            <a:solidFill>
              <a:srgbClr val="1565C0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263640" y="40690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reviews.csv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8138160" y="4503420"/>
            <a:ext cx="132588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arrow"/>
          </a:ln>
        </p:spPr>
      </p:sp>
      <p:sp>
        <p:nvSpPr>
          <p:cNvPr id="36" name="Text 32"/>
          <p:cNvSpPr/>
          <p:nvPr/>
        </p:nvSpPr>
        <p:spPr>
          <a:xfrm>
            <a:off x="8138160" y="41605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inicial única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9509760" y="4069080"/>
            <a:ext cx="2286000" cy="868680"/>
          </a:xfrm>
          <a:prstGeom prst="rect">
            <a:avLst/>
          </a:prstGeom>
          <a:solidFill>
            <a:srgbClr val="E8F5E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9509760" y="40690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reviews</a:t>
            </a:r>
            <a:endParaRPr lang="en-US" sz="1100" dirty="0"/>
          </a:p>
        </p:txBody>
      </p:sp>
      <p:sp>
        <p:nvSpPr>
          <p:cNvPr id="39" name="Shape 35"/>
          <p:cNvSpPr/>
          <p:nvPr/>
        </p:nvSpPr>
        <p:spPr>
          <a:xfrm>
            <a:off x="6263640" y="5257800"/>
            <a:ext cx="1828800" cy="868680"/>
          </a:xfrm>
          <a:prstGeom prst="rect">
            <a:avLst/>
          </a:prstGeom>
          <a:solidFill>
            <a:srgbClr val="E3F2FD"/>
          </a:solidFill>
          <a:ln w="10160">
            <a:solidFill>
              <a:srgbClr val="1565C0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263640" y="52578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geolocation.csv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8138160" y="5692140"/>
            <a:ext cx="132588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  <a:tailEnd type="arrow"/>
          </a:ln>
        </p:spPr>
      </p:sp>
      <p:sp>
        <p:nvSpPr>
          <p:cNvPr id="42" name="Text 38"/>
          <p:cNvSpPr/>
          <p:nvPr/>
        </p:nvSpPr>
        <p:spPr>
          <a:xfrm>
            <a:off x="8138160" y="53492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inicial única</a:t>
            </a:r>
            <a:endParaRPr lang="en-US" sz="800" dirty="0"/>
          </a:p>
        </p:txBody>
      </p:sp>
      <p:sp>
        <p:nvSpPr>
          <p:cNvPr id="43" name="Shape 39"/>
          <p:cNvSpPr/>
          <p:nvPr/>
        </p:nvSpPr>
        <p:spPr>
          <a:xfrm>
            <a:off x="9509760" y="5257800"/>
            <a:ext cx="2286000" cy="868680"/>
          </a:xfrm>
          <a:prstGeom prst="rect">
            <a:avLst/>
          </a:prstGeom>
          <a:solidFill>
            <a:srgbClr val="E8F5E9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9509760" y="52578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geolocation</a:t>
            </a:r>
            <a:endParaRPr lang="en-US" sz="1100" dirty="0"/>
          </a:p>
        </p:txBody>
      </p:sp>
      <p:sp>
        <p:nvSpPr>
          <p:cNvPr id="45" name="Shape 41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1B3D"/>
          </a:solidFill>
          <a:ln w="12700">
            <a:solidFill>
              <a:srgbClr val="0A1B3D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Ecommify · Diseño Conceptual y Lógico · Universidad de La Sabana</a:t>
            </a:r>
            <a:endParaRPr lang="en-US" sz="900" dirty="0"/>
          </a:p>
        </p:txBody>
      </p:sp>
      <p:sp>
        <p:nvSpPr>
          <p:cNvPr id="47" name="Text 43"/>
          <p:cNvSpPr/>
          <p:nvPr/>
        </p:nvSpPr>
        <p:spPr>
          <a:xfrm>
            <a:off x="10972800" y="6583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274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 y Mitigaciones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05840" y="7498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identificados y cómo se compensan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11430000" cy="868680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17320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9A82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27048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35331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LIMITACIÓN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234440" y="15544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MB en Supabase free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434840" y="13533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434840" y="1554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cabe dataset completo + tablas adicionales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360920" y="13533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360920" y="155448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de geolocation (100K registros) en Supabase. Dataset full en Docker local. Migrar a Pro al superar.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65760" y="2267712"/>
            <a:ext cx="114300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02920" y="2404872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9A825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14600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234440" y="234086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LIMITACIÓN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234440" y="254203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Sharding no disponible en Atlas M0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434840" y="234086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4434840" y="25420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puede escalar horizontalmente en plan gratuito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360920" y="234086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7360920" y="254203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Sharding emulado en cluster Docker local. Migración a Atlas M10 ($60/mes) cuando crezca volumen real de producción.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365760" y="3255264"/>
            <a:ext cx="11430000" cy="868680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02920" y="3392424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9A825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502152"/>
            <a:ext cx="365760" cy="36576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234440" y="332841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LIMITACIÓN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234440" y="352958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FK nativa MongoDB ↔ PostgreSQL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4434840" y="332841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4434840" y="352958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 puede quedar huérfano en reviews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7360920" y="332841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7360920" y="352958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ON DELETE RESTRICT en PG impide borrar orders con dependencias. Soft-delete en su lugar. Validación de integridad en aplicación.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365760" y="4242816"/>
            <a:ext cx="114300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502920" y="4379976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9A825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489704"/>
            <a:ext cx="365760" cy="36576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1234440" y="431596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LIMITACIÓN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1234440" y="451713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 ETL para orders_summary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4434840" y="43159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4434840" y="451713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en MongoDB están 1-24 h desactualizados</a:t>
            </a:r>
            <a:endParaRPr lang="en-US" sz="1100" dirty="0"/>
          </a:p>
        </p:txBody>
      </p:sp>
      <p:sp>
        <p:nvSpPr>
          <p:cNvPr id="40" name="Text 34"/>
          <p:cNvSpPr/>
          <p:nvPr/>
        </p:nvSpPr>
        <p:spPr>
          <a:xfrm>
            <a:off x="7360920" y="43159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7360920" y="4517136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Aceptable para dashboards ejecutivos. Consultas en tiempo real (checkout, perfil) van directo a PG. ETL incremental horario.</a:t>
            </a:r>
            <a:endParaRPr lang="en-US" sz="1100" dirty="0"/>
          </a:p>
        </p:txBody>
      </p:sp>
      <p:sp>
        <p:nvSpPr>
          <p:cNvPr id="42" name="Shape 36"/>
          <p:cNvSpPr/>
          <p:nvPr/>
        </p:nvSpPr>
        <p:spPr>
          <a:xfrm>
            <a:off x="365760" y="5230368"/>
            <a:ext cx="11430000" cy="868680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502920" y="5367528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9A825"/>
            </a:solidFill>
            <a:prstDash val="solid"/>
          </a:ln>
        </p:spPr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5477256"/>
            <a:ext cx="365760" cy="365760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1234440" y="53035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LIMITACIÓN</a:t>
            </a:r>
            <a:endParaRPr lang="en-US" sz="900" dirty="0"/>
          </a:p>
        </p:txBody>
      </p:sp>
      <p:sp>
        <p:nvSpPr>
          <p:cNvPr id="46" name="Text 39"/>
          <p:cNvSpPr/>
          <p:nvPr/>
        </p:nvSpPr>
        <p:spPr>
          <a:xfrm>
            <a:off x="1234440" y="550468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Lecturas secundarias MDB con lag</a:t>
            </a:r>
            <a:endParaRPr lang="en-US" sz="1200" dirty="0"/>
          </a:p>
        </p:txBody>
      </p:sp>
      <p:sp>
        <p:nvSpPr>
          <p:cNvPr id="47" name="Text 40"/>
          <p:cNvSpPr/>
          <p:nvPr/>
        </p:nvSpPr>
        <p:spPr>
          <a:xfrm>
            <a:off x="4434840" y="5303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900" dirty="0"/>
          </a:p>
        </p:txBody>
      </p:sp>
      <p:sp>
        <p:nvSpPr>
          <p:cNvPr id="48" name="Text 41"/>
          <p:cNvSpPr/>
          <p:nvPr/>
        </p:nvSpPr>
        <p:spPr>
          <a:xfrm>
            <a:off x="4434840" y="550468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puede ver review propia con retraso de segundos</a:t>
            </a:r>
            <a:endParaRPr lang="en-US" sz="1100" dirty="0"/>
          </a:p>
        </p:txBody>
      </p:sp>
      <p:sp>
        <p:nvSpPr>
          <p:cNvPr id="49" name="Text 42"/>
          <p:cNvSpPr/>
          <p:nvPr/>
        </p:nvSpPr>
        <p:spPr>
          <a:xfrm>
            <a:off x="7360920" y="5303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</a:t>
            </a:r>
            <a:endParaRPr lang="en-US" sz="900" dirty="0"/>
          </a:p>
        </p:txBody>
      </p:sp>
      <p:sp>
        <p:nvSpPr>
          <p:cNvPr id="50" name="Text 43"/>
          <p:cNvSpPr/>
          <p:nvPr/>
        </p:nvSpPr>
        <p:spPr>
          <a:xfrm>
            <a:off x="7360920" y="550468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readConcern: majority para campos críticos. readPreference: primary cuando importa la consistencia inmediata.</a:t>
            </a:r>
            <a:endParaRPr lang="en-US" sz="1100" dirty="0"/>
          </a:p>
        </p:txBody>
      </p:sp>
      <p:sp>
        <p:nvSpPr>
          <p:cNvPr id="51" name="Shape 4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1B3D"/>
          </a:solidFill>
          <a:ln w="12700">
            <a:solidFill>
              <a:srgbClr val="0A1B3D"/>
            </a:solidFill>
            <a:prstDash val="solid"/>
          </a:ln>
        </p:spPr>
      </p:sp>
      <p:sp>
        <p:nvSpPr>
          <p:cNvPr id="52" name="Text 45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Ecommify · Diseño Conceptual y Lógico · Universidad de La Sabana</a:t>
            </a:r>
            <a:endParaRPr lang="en-US" sz="900" dirty="0"/>
          </a:p>
        </p:txBody>
      </p:sp>
      <p:sp>
        <p:nvSpPr>
          <p:cNvPr id="53" name="Text 46"/>
          <p:cNvSpPr/>
          <p:nvPr/>
        </p:nvSpPr>
        <p:spPr>
          <a:xfrm>
            <a:off x="10972800" y="6583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Implementación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2606040" cy="2880360"/>
          </a:xfrm>
          <a:prstGeom prst="rect">
            <a:avLst/>
          </a:prstGeom>
          <a:solidFill>
            <a:srgbClr val="112A5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20240"/>
            <a:ext cx="2606040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202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560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inicial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9260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32918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Docker local</a:t>
            </a:r>
            <a:endParaRPr lang="en-US" sz="11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8 scripts DDL</a:t>
            </a:r>
            <a:endParaRPr lang="en-US" sz="11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CSVs Olist</a:t>
            </a:r>
            <a:endParaRPr lang="en-US" sz="11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integridad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11880" y="1920240"/>
            <a:ext cx="2606040" cy="2880360"/>
          </a:xfrm>
          <a:prstGeom prst="rect">
            <a:avLst/>
          </a:prstGeom>
          <a:solidFill>
            <a:srgbClr val="112A5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11880" y="1920240"/>
            <a:ext cx="2606040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1880" y="19202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94760" y="2560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avanzados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94760" y="29260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94760" y="32918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JSONB specifications</a:t>
            </a:r>
            <a:endParaRPr lang="en-US" sz="11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PostGIS warehouses</a:t>
            </a:r>
            <a:endParaRPr lang="en-US" sz="11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Promociones TSTZRANGE</a:t>
            </a:r>
            <a:endParaRPr lang="en-US" sz="11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updated_at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1920240"/>
            <a:ext cx="2606040" cy="2880360"/>
          </a:xfrm>
          <a:prstGeom prst="rect">
            <a:avLst/>
          </a:prstGeom>
          <a:solidFill>
            <a:srgbClr val="112A5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1920240"/>
            <a:ext cx="2606040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9202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83680" y="2560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 + ETL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83680" y="29260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32918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Materialized views</a:t>
            </a:r>
            <a:endParaRPr lang="en-US" sz="11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PG → MongoDB</a:t>
            </a:r>
            <a:endParaRPr lang="en-US" sz="11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 2dsphere</a:t>
            </a:r>
            <a:endParaRPr lang="en-US" sz="11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Sharding emulado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89720" y="1920240"/>
            <a:ext cx="2606040" cy="2880360"/>
          </a:xfrm>
          <a:prstGeom prst="rect">
            <a:avLst/>
          </a:prstGeom>
          <a:solidFill>
            <a:srgbClr val="112A5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89720" y="1920240"/>
            <a:ext cx="2606040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89720" y="19202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372600" y="2560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final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372600" y="29260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372600" y="32918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OLTP/OLAP</a:t>
            </a:r>
            <a:endParaRPr lang="en-US" sz="11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 cargas</a:t>
            </a:r>
            <a:endParaRPr lang="en-US" sz="11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Refinamiento queries</a:t>
            </a:r>
            <a:endParaRPr lang="en-US" sz="11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" y="5029200"/>
            <a:ext cx="10607040" cy="1325880"/>
          </a:xfrm>
          <a:prstGeom prst="rect">
            <a:avLst/>
          </a:prstGeom>
          <a:solidFill>
            <a:srgbClr val="112A55"/>
          </a:solidFill>
          <a:ln w="19050">
            <a:solidFill>
              <a:srgbClr val="F4A261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5349240"/>
            <a:ext cx="640080" cy="64008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920240" y="5166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GitHub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1920240" y="5440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github.com/juanperriv/optimizacion-y-diseno-base-de-datos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1920240" y="5852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archivos · 8 DDL scripts · 2 ETL Python · 4 ejemplos MongoDB · diccionario TSV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822960" y="6492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Fredy Pulido  ·  Juan Pérez Vivanco  |  Universidad de La Sabana · Mayo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Ecommify — Diseño Conceptual y Lógico</dc:title>
  <dc:subject>PptxGenJS Presentation</dc:subject>
  <dc:creator>Fredy Pulido · Juan Pérez Vivanco</dc:creator>
  <cp:lastModifiedBy>Fredy Pulido · Juan Pérez Vivanco</cp:lastModifiedBy>
  <cp:revision>1</cp:revision>
  <dcterms:created xsi:type="dcterms:W3CDTF">2026-05-23T23:27:59Z</dcterms:created>
  <dcterms:modified xsi:type="dcterms:W3CDTF">2026-05-23T23:27:59Z</dcterms:modified>
</cp:coreProperties>
</file>