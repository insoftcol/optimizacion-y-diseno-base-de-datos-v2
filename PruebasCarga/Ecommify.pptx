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84211"/>
  </p:normalViewPr>
  <p:slideViewPr>
    <p:cSldViewPr snapToGrid="0">
      <p:cViewPr varScale="1">
        <p:scale>
          <a:sx n="120" d="100"/>
          <a:sy n="120" d="100"/>
        </p:scale>
        <p:origin x="2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2FE493-A1A3-8D47-A47B-CB157EE3BEF3}" type="datetimeFigureOut">
              <a:rPr lang="es-ES_tradnl" smtClean="0"/>
              <a:t>21/6/26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D26163-8E57-FA49-9885-0FD6FF56D64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36158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Buenas noches. Somos el equipo de </a:t>
            </a:r>
            <a:r>
              <a:rPr lang="es-CO" dirty="0" err="1"/>
              <a:t>Ecommify</a:t>
            </a:r>
            <a:r>
              <a:rPr lang="es-CO" dirty="0"/>
              <a:t> y durante este semestre diseñamos, implementamos y evaluamos una arquitectura híbrida de datos basada en PostgreSQL y MongoDB.</a:t>
            </a:r>
          </a:p>
          <a:p>
            <a:br>
              <a:rPr lang="es-CO" dirty="0"/>
            </a:br>
            <a:endParaRPr lang="es-CO" dirty="0"/>
          </a:p>
          <a:p>
            <a:r>
              <a:rPr lang="es-CO" dirty="0"/>
              <a:t>El objetivo era responder una pregunta muy común en arquitectura empresarial:</a:t>
            </a:r>
          </a:p>
          <a:p>
            <a:br>
              <a:rPr lang="es-CO" dirty="0"/>
            </a:br>
            <a:endParaRPr lang="es-CO" dirty="0"/>
          </a:p>
          <a:p>
            <a:r>
              <a:rPr lang="es-CO" dirty="0"/>
              <a:t>¿Es posible combinar consistencia transaccional y analítica escalable dentro de una misma solución?</a:t>
            </a:r>
          </a:p>
          <a:p>
            <a:br>
              <a:rPr lang="es-CO" dirty="0"/>
            </a:br>
            <a:endParaRPr lang="es-CO" dirty="0"/>
          </a:p>
          <a:p>
            <a:r>
              <a:rPr lang="es-CO" dirty="0"/>
              <a:t>Para responderla utilizamos el </a:t>
            </a:r>
            <a:r>
              <a:rPr lang="es-CO" dirty="0" err="1"/>
              <a:t>dataset</a:t>
            </a:r>
            <a:r>
              <a:rPr lang="es-CO" dirty="0"/>
              <a:t> </a:t>
            </a:r>
            <a:r>
              <a:rPr lang="es-CO" dirty="0" err="1"/>
              <a:t>Olist</a:t>
            </a:r>
            <a:r>
              <a:rPr lang="es-CO" dirty="0"/>
              <a:t> y construimos una arquitectura que nos permitió evaluar diferentes patrones, tecnologías y estrategias de optimización.</a:t>
            </a:r>
          </a:p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26163-8E57-FA49-9885-0FD6FF56D648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61929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Nuestra solución se basó en una estrategia de persistencia políglota.</a:t>
            </a:r>
          </a:p>
          <a:p>
            <a:br>
              <a:rPr lang="es-CO" dirty="0"/>
            </a:br>
            <a:endParaRPr lang="es-CO" dirty="0"/>
          </a:p>
          <a:p>
            <a:r>
              <a:rPr lang="es-CO" dirty="0"/>
              <a:t>PostgreSQL fue seleccionado como fuente de verdad transaccional para manejar órdenes, pagos, clientes e inventario.</a:t>
            </a:r>
          </a:p>
          <a:p>
            <a:br>
              <a:rPr lang="es-CO" dirty="0"/>
            </a:br>
            <a:endParaRPr lang="es-CO" dirty="0"/>
          </a:p>
          <a:p>
            <a:r>
              <a:rPr lang="es-CO" dirty="0"/>
              <a:t>Estas entidades requieren integridad referencial, consistencia fuerte y cumplimiento de propiedades ACID.</a:t>
            </a:r>
          </a:p>
          <a:p>
            <a:br>
              <a:rPr lang="es-CO" dirty="0"/>
            </a:br>
            <a:endParaRPr lang="es-CO" dirty="0"/>
          </a:p>
          <a:p>
            <a:r>
              <a:rPr lang="es-CO" dirty="0"/>
              <a:t>Por otro lado, MongoDB fue utilizado para componentes analíticos como </a:t>
            </a:r>
            <a:r>
              <a:rPr lang="es-CO" dirty="0" err="1"/>
              <a:t>dashboards</a:t>
            </a:r>
            <a:r>
              <a:rPr lang="es-CO" dirty="0"/>
              <a:t>, geolocalización, catálogo flexible y reseñas.</a:t>
            </a:r>
          </a:p>
          <a:p>
            <a:br>
              <a:rPr lang="es-CO" dirty="0"/>
            </a:br>
            <a:endParaRPr lang="es-CO" dirty="0"/>
          </a:p>
          <a:p>
            <a:r>
              <a:rPr lang="es-CO" dirty="0"/>
              <a:t>Entre ambos motores implementamos procesos ETL para desacoplar las cargas transaccionales de las cargas analíticas.</a:t>
            </a:r>
          </a:p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26163-8E57-FA49-9885-0FD6FF56D648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902719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Una vez definida la arquitectura, implementamos estrategias de optimización específicas para cada motor.</a:t>
            </a:r>
          </a:p>
          <a:p>
            <a:br>
              <a:rPr lang="es-CO" dirty="0"/>
            </a:br>
            <a:endParaRPr lang="es-CO" dirty="0"/>
          </a:p>
          <a:p>
            <a:r>
              <a:rPr lang="es-CO" dirty="0"/>
              <a:t>En PostgreSQL aprovechamos funcionalidades avanzadas como JSONB, </a:t>
            </a:r>
            <a:r>
              <a:rPr lang="es-CO" dirty="0" err="1"/>
              <a:t>PostGIS</a:t>
            </a:r>
            <a:r>
              <a:rPr lang="es-CO" dirty="0"/>
              <a:t>, </a:t>
            </a:r>
            <a:r>
              <a:rPr lang="es-CO" dirty="0" err="1"/>
              <a:t>pg_trgm</a:t>
            </a:r>
            <a:r>
              <a:rPr lang="es-CO" dirty="0"/>
              <a:t>, vistas materializadas, particionamiento e índices especializados.</a:t>
            </a:r>
          </a:p>
          <a:p>
            <a:br>
              <a:rPr lang="es-CO" dirty="0"/>
            </a:br>
            <a:endParaRPr lang="es-CO" dirty="0"/>
          </a:p>
          <a:p>
            <a:r>
              <a:rPr lang="es-CO" dirty="0"/>
              <a:t>En MongoDB utilizamos </a:t>
            </a:r>
            <a:r>
              <a:rPr lang="es-CO" dirty="0" err="1"/>
              <a:t>Aggregation</a:t>
            </a:r>
            <a:r>
              <a:rPr lang="es-CO" dirty="0"/>
              <a:t> Pipelines, índices compuestos bajo la estrategia ESR, índices geoespaciales y diseño preparado para Replica Sets y </a:t>
            </a:r>
            <a:r>
              <a:rPr lang="es-CO" dirty="0" err="1"/>
              <a:t>Sharding</a:t>
            </a:r>
            <a:r>
              <a:rPr lang="es-CO" dirty="0"/>
              <a:t>.</a:t>
            </a:r>
          </a:p>
          <a:p>
            <a:br>
              <a:rPr lang="es-CO" dirty="0"/>
            </a:br>
            <a:endParaRPr lang="es-CO" dirty="0"/>
          </a:p>
          <a:p>
            <a:r>
              <a:rPr lang="es-CO" dirty="0"/>
              <a:t>Además, implementamos un enfoque HTAP separando cargas OLTP y OLAP para evitar contención y mejorar el rendimiento global.</a:t>
            </a:r>
          </a:p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26163-8E57-FA49-9885-0FD6FF56D648}" type="slidenum">
              <a:rPr lang="es-ES_tradnl" smtClean="0"/>
              <a:t>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78268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Para validar nuestras decisiones arquitectónicas realizamos pruebas de concurrencia utilizando el mismo </a:t>
            </a:r>
            <a:r>
              <a:rPr lang="es-CO" dirty="0" err="1"/>
              <a:t>framework</a:t>
            </a:r>
            <a:r>
              <a:rPr lang="es-CO" dirty="0"/>
              <a:t> sobre ambas plataformas.</a:t>
            </a:r>
          </a:p>
          <a:p>
            <a:br>
              <a:rPr lang="es-CO" dirty="0"/>
            </a:br>
            <a:endParaRPr lang="es-CO" dirty="0"/>
          </a:p>
          <a:p>
            <a:r>
              <a:rPr lang="es-CO" dirty="0"/>
              <a:t>Evaluamos escenarios entre 1 y 30 usuarios concurrentes y medimos </a:t>
            </a:r>
            <a:r>
              <a:rPr lang="es-CO" dirty="0" err="1"/>
              <a:t>throughput</a:t>
            </a:r>
            <a:r>
              <a:rPr lang="es-CO" dirty="0"/>
              <a:t>, latencias p50, p95 y p99.</a:t>
            </a:r>
          </a:p>
          <a:p>
            <a:br>
              <a:rPr lang="es-CO" dirty="0"/>
            </a:br>
            <a:endParaRPr lang="es-CO" dirty="0"/>
          </a:p>
          <a:p>
            <a:r>
              <a:rPr lang="es-CO" dirty="0"/>
              <a:t>Los resultados iniciales mostraron que MongoDB mantenía un </a:t>
            </a:r>
            <a:r>
              <a:rPr lang="es-CO" dirty="0" err="1"/>
              <a:t>throughput</a:t>
            </a:r>
            <a:r>
              <a:rPr lang="es-CO" dirty="0"/>
              <a:t> superior y una latencia significativamente menor en todos los niveles de concurrencia.</a:t>
            </a:r>
          </a:p>
          <a:p>
            <a:br>
              <a:rPr lang="es-CO" dirty="0"/>
            </a:br>
            <a:endParaRPr lang="es-CO" dirty="0"/>
          </a:p>
          <a:p>
            <a:r>
              <a:rPr lang="es-CO" dirty="0"/>
              <a:t>Mientras tanto PostgreSQL comenzó a degradarse a partir de los 10 a 15 usuarios concurrentes.</a:t>
            </a:r>
          </a:p>
          <a:p>
            <a:br>
              <a:rPr lang="es-CO" dirty="0"/>
            </a:br>
            <a:endParaRPr lang="es-CO" dirty="0"/>
          </a:p>
          <a:p>
            <a:r>
              <a:rPr lang="es-CO" dirty="0"/>
              <a:t>En ese momento parecía que MongoDB era ampliamente superior.</a:t>
            </a:r>
          </a:p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26163-8E57-FA49-9885-0FD6FF56D648}" type="slidenum">
              <a:rPr lang="es-ES_tradnl" smtClean="0"/>
              <a:t>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568841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Este fue el hallazgo más importante de todo el proyecto.</a:t>
            </a:r>
          </a:p>
          <a:p>
            <a:br>
              <a:rPr lang="es-CO" dirty="0"/>
            </a:br>
            <a:endParaRPr lang="es-CO" dirty="0"/>
          </a:p>
          <a:p>
            <a:r>
              <a:rPr lang="es-CO" dirty="0"/>
              <a:t>Al analizar los resultados en profundidad descubrimos que el problema no estaba en PostgreSQL.</a:t>
            </a:r>
          </a:p>
          <a:p>
            <a:br>
              <a:rPr lang="es-CO" dirty="0"/>
            </a:br>
            <a:endParaRPr lang="es-CO" dirty="0"/>
          </a:p>
          <a:p>
            <a:r>
              <a:rPr lang="es-CO" dirty="0"/>
              <a:t>Lo que observamos fue un patrón FIFO muy claro en los tiempos de espera.</a:t>
            </a:r>
          </a:p>
          <a:p>
            <a:br>
              <a:rPr lang="es-CO" dirty="0"/>
            </a:br>
            <a:endParaRPr lang="es-CO" dirty="0"/>
          </a:p>
          <a:p>
            <a:r>
              <a:rPr lang="es-CO" dirty="0"/>
              <a:t>A medida que aumentaban los usuarios concurrentes, el tiempo de respuesta crecía de manera casi lineal.</a:t>
            </a:r>
          </a:p>
          <a:p>
            <a:br>
              <a:rPr lang="es-CO" dirty="0"/>
            </a:br>
            <a:endParaRPr lang="es-CO" dirty="0"/>
          </a:p>
          <a:p>
            <a:r>
              <a:rPr lang="es-CO" dirty="0"/>
              <a:t>Este comportamiento es típico de una cola de conexiones saturada.</a:t>
            </a:r>
          </a:p>
          <a:p>
            <a:br>
              <a:rPr lang="es-CO" dirty="0"/>
            </a:br>
            <a:endParaRPr lang="es-CO" dirty="0"/>
          </a:p>
          <a:p>
            <a:r>
              <a:rPr lang="es-CO" dirty="0"/>
              <a:t>Finalmente identificamos que el cuello de botella provenía del </a:t>
            </a:r>
            <a:r>
              <a:rPr lang="es-CO" dirty="0" err="1"/>
              <a:t>connection</a:t>
            </a:r>
            <a:r>
              <a:rPr lang="es-CO" dirty="0"/>
              <a:t> pool del Free Tier de </a:t>
            </a:r>
            <a:r>
              <a:rPr lang="es-CO" dirty="0" err="1"/>
              <a:t>Supabase</a:t>
            </a:r>
            <a:r>
              <a:rPr lang="es-CO" dirty="0"/>
              <a:t> y no del motor PostgreSQL.</a:t>
            </a:r>
          </a:p>
          <a:p>
            <a:br>
              <a:rPr lang="es-CO" dirty="0"/>
            </a:br>
            <a:endParaRPr lang="es-CO" dirty="0"/>
          </a:p>
          <a:p>
            <a:r>
              <a:rPr lang="es-CO" dirty="0"/>
              <a:t>Es decir, la limitación estaba en la infraestructura utilizada para las pruebas y no en la tecnología evaluada.</a:t>
            </a:r>
          </a:p>
          <a:p>
            <a:br>
              <a:rPr lang="es-CO" dirty="0"/>
            </a:br>
            <a:endParaRPr lang="es-CO" dirty="0"/>
          </a:p>
          <a:p>
            <a:r>
              <a:rPr lang="es-CO" dirty="0"/>
              <a:t>Este descubrimiento fue especialmente valioso porque nos permitió diferenciar entre un problema de arquitectura y un problema de infraestructura.</a:t>
            </a:r>
          </a:p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26163-8E57-FA49-9885-0FD6FF56D648}" type="slidenum">
              <a:rPr lang="es-ES_tradnl" smtClean="0"/>
              <a:t>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720025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Como conclusiones principales encontramos que la persistencia políglota fue la decisión correcta para este escenario.</a:t>
            </a:r>
          </a:p>
          <a:p>
            <a:br>
              <a:rPr lang="es-CO" dirty="0"/>
            </a:br>
            <a:endParaRPr lang="es-CO" dirty="0"/>
          </a:p>
          <a:p>
            <a:r>
              <a:rPr lang="es-CO" dirty="0"/>
              <a:t>PostgreSQL demostró ser la mejor alternativa para cargas críticas que requieren consistencia e integridad.</a:t>
            </a:r>
          </a:p>
          <a:p>
            <a:br>
              <a:rPr lang="es-CO" dirty="0"/>
            </a:br>
            <a:endParaRPr lang="es-CO" dirty="0"/>
          </a:p>
          <a:p>
            <a:r>
              <a:rPr lang="es-CO" dirty="0"/>
              <a:t>MongoDB destacó en escenarios analíticos y de alta flexibilidad.</a:t>
            </a:r>
          </a:p>
          <a:p>
            <a:br>
              <a:rPr lang="es-CO" dirty="0"/>
            </a:br>
            <a:endParaRPr lang="es-CO" dirty="0"/>
          </a:p>
          <a:p>
            <a:r>
              <a:rPr lang="es-CO" dirty="0"/>
              <a:t>También comprobamos que las decisiones arquitectónicas deben validarse con evidencia experimental y no únicamente con teoría.</a:t>
            </a:r>
          </a:p>
          <a:p>
            <a:br>
              <a:rPr lang="es-CO" dirty="0"/>
            </a:br>
            <a:endParaRPr lang="es-CO" dirty="0"/>
          </a:p>
          <a:p>
            <a:r>
              <a:rPr lang="es-CO" dirty="0"/>
              <a:t>Finalmente entendimos que el éxito de una solución no depende solamente de la tecnología seleccionada, sino de cómo se implementa y de la infraestructura que la soporta.</a:t>
            </a:r>
          </a:p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26163-8E57-FA49-9885-0FD6FF56D648}" type="slidenum">
              <a:rPr lang="es-ES_tradnl" smtClean="0"/>
              <a:t>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236715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Queremos agradecer a nuestro docente por su acompañamiento durante todo el semestre y a nuestros compañeros por los aportes realizados durante el desarrollo del proyecto.</a:t>
            </a:r>
          </a:p>
          <a:p>
            <a:br>
              <a:rPr lang="es-CO" dirty="0"/>
            </a:br>
            <a:endParaRPr lang="es-CO" dirty="0"/>
          </a:p>
          <a:p>
            <a:r>
              <a:rPr lang="es-CO" dirty="0"/>
              <a:t>Este trabajo nos permitió aplicar conceptos de arquitectura, bases de datos distribuidas, optimización y análisis de rendimiento en un escenario muy cercano a un caso real.</a:t>
            </a:r>
          </a:p>
          <a:p>
            <a:br>
              <a:rPr lang="es-CO" dirty="0"/>
            </a:br>
            <a:endParaRPr lang="es-CO" dirty="0"/>
          </a:p>
          <a:p>
            <a:r>
              <a:rPr lang="es-CO" dirty="0"/>
              <a:t>Muchas gracias por su atención.</a:t>
            </a:r>
          </a:p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26163-8E57-FA49-9885-0FD6FF56D648}" type="slidenum">
              <a:rPr lang="es-ES_tradnl" smtClean="0"/>
              <a:t>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36092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732222-6F4A-34A0-8035-8241016A50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0D52FDF-3B48-EF38-D881-19E750FDD4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24140B-C8D0-5F98-37E0-AE499AE69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3578B-150D-C24A-AACC-20B5C70AC27B}" type="datetimeFigureOut">
              <a:rPr lang="es-ES_tradnl" smtClean="0"/>
              <a:t>21/6/26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64F466-31E0-35A1-B0C5-D93A73A22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2954F2-C59E-AB49-C028-54D18B96D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F5FBE-ABA5-9B47-B5B0-172E5EF3E4D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39326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F03653-702D-29C0-6075-FBD956CEE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77683F-718F-065D-B568-9DDECAA63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C24595-5D41-2F64-4B32-B9701BAC4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3578B-150D-C24A-AACC-20B5C70AC27B}" type="datetimeFigureOut">
              <a:rPr lang="es-ES_tradnl" smtClean="0"/>
              <a:t>21/6/26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10873F-747A-9870-188B-347A2DD4F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78FC1C-5DE5-7838-825E-06FFD5262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F5FBE-ABA5-9B47-B5B0-172E5EF3E4D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41942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943E7D-526C-DF3D-ED5D-B64123C05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A1DDCB5-C8CF-D69A-6234-2355D2C2A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B19567-8AE2-F709-DA87-5EAE63B45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3578B-150D-C24A-AACC-20B5C70AC27B}" type="datetimeFigureOut">
              <a:rPr lang="es-ES_tradnl" smtClean="0"/>
              <a:t>21/6/26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4FBBA8-FBF0-0511-5D29-0A2329BE5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80A558-7300-7064-06F5-0508A8D1C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F5FBE-ABA5-9B47-B5B0-172E5EF3E4D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06152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B65552-CC75-469F-5B01-1AB7AC01B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DDE7E3-13FD-757F-529C-8DEFB9867C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FEE73E2-C5E1-FF2E-5AF0-BD5532C38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2DCF7E-AB10-A6F2-DF51-6AA37E0A1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3578B-150D-C24A-AACC-20B5C70AC27B}" type="datetimeFigureOut">
              <a:rPr lang="es-ES_tradnl" smtClean="0"/>
              <a:t>21/6/26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CB486A-3E0E-BFFE-3E65-68EF4ABC7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78A656A-63A7-4F59-3990-4139BE2E8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F5FBE-ABA5-9B47-B5B0-172E5EF3E4D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04421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AC6DE0-B829-4A9A-7C0E-52896F6A4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1EA7283-9780-6DD9-ADFB-2A06C0464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4C01A13-DC86-DC2D-FEDD-DB74DF7F1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3E7E9D7-C3F7-D834-00DC-D49E15734D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B5E406E-738C-7FA1-2B16-46BFFF3636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AD97464-49FF-C06E-B255-068B1A3A4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3578B-150D-C24A-AACC-20B5C70AC27B}" type="datetimeFigureOut">
              <a:rPr lang="es-ES_tradnl" smtClean="0"/>
              <a:t>21/6/26</a:t>
            </a:fld>
            <a:endParaRPr lang="es-ES_tradn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99EB81E-B8A8-141C-D1B4-3CBD68C64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DEB600D-38CD-1F7A-E4A8-A0334E55F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F5FBE-ABA5-9B47-B5B0-172E5EF3E4D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9186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1FC8DD-0BFA-9776-30C8-1AB7457DE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9245EFA-7BFD-0973-2209-1F56AD936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3578B-150D-C24A-AACC-20B5C70AC27B}" type="datetimeFigureOut">
              <a:rPr lang="es-ES_tradnl" smtClean="0"/>
              <a:t>21/6/26</a:t>
            </a:fld>
            <a:endParaRPr lang="es-ES_tradn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E7310E1-0731-F381-43E8-A966BD1DB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8C777EF-F476-92CF-A182-630F0BEC0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F5FBE-ABA5-9B47-B5B0-172E5EF3E4D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25321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F3EA78E-857B-113F-9D9F-D380511E3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3578B-150D-C24A-AACC-20B5C70AC27B}" type="datetimeFigureOut">
              <a:rPr lang="es-ES_tradnl" smtClean="0"/>
              <a:t>21/6/26</a:t>
            </a:fld>
            <a:endParaRPr lang="es-ES_tradn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C820F4A-58F2-BE1F-288D-00AE67710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52530C6-7EF6-5D61-A4D3-ABE1B42C3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F5FBE-ABA5-9B47-B5B0-172E5EF3E4D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74739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38184A-3B8A-D1B3-485D-C0A96944A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027450-42BD-366A-A357-3B543E94C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9925D9E-E0E0-F89A-908A-87A909A008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E09173-A849-3C62-FC3D-A7F171CA3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3578B-150D-C24A-AACC-20B5C70AC27B}" type="datetimeFigureOut">
              <a:rPr lang="es-ES_tradnl" smtClean="0"/>
              <a:t>21/6/26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16F755-4779-D1DF-BBDA-514F4EF98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158EA42-D26D-791E-AD22-67C327715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F5FBE-ABA5-9B47-B5B0-172E5EF3E4D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23845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BFD75C-D874-E4BA-6C95-3560B674F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8796498-15D5-F747-815F-822441C0F9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1A5D58E-52EE-906A-5E10-8004A73205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4DCAB25-19AA-792B-5D0B-F39AF6D22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3578B-150D-C24A-AACC-20B5C70AC27B}" type="datetimeFigureOut">
              <a:rPr lang="es-ES_tradnl" smtClean="0"/>
              <a:t>21/6/26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DA7A9F1-0F6A-D541-04DC-8F8564BEF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BC05E8E-333A-188B-6E99-8A49FF54E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F5FBE-ABA5-9B47-B5B0-172E5EF3E4D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42715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EF6889-7A45-5F3D-D01C-3F2095F99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76A9A55-FBFB-F72F-41A4-35BFC6976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6F4FEE-0A53-C59F-0999-5D4CD06CF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3578B-150D-C24A-AACC-20B5C70AC27B}" type="datetimeFigureOut">
              <a:rPr lang="es-ES_tradnl" smtClean="0"/>
              <a:t>21/6/26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650F47-7F26-AF72-D08A-FEAE378D5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A34839-74A0-8E77-A90B-DD51668B7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F5FBE-ABA5-9B47-B5B0-172E5EF3E4D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23135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BE63246-87F0-2582-860A-7EF21D9200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64E0551-F8C2-2A35-4307-7E595E52B5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0DD477-A8C8-3603-7206-206D2CDA4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3578B-150D-C24A-AACC-20B5C70AC27B}" type="datetimeFigureOut">
              <a:rPr lang="es-ES_tradnl" smtClean="0"/>
              <a:t>21/6/26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032DAB-F8C9-B6A6-9D8B-420B0C5F6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407D09-4A63-5BCD-F39D-AB384105E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F5FBE-ABA5-9B47-B5B0-172E5EF3E4D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25887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84AD3B8-F400-8906-0DAD-8F40ECC18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5B6B9B-599E-A6E3-B296-C9992FA19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5F7EBB-2193-26CF-1413-7DFCC47A58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33578B-150D-C24A-AACC-20B5C70AC27B}" type="datetimeFigureOut">
              <a:rPr lang="es-ES_tradnl" smtClean="0"/>
              <a:t>21/6/26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A06C4A-DE31-5C79-680D-18B60CD85E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40F8C6-9F0E-1AFE-BB41-58676C49EE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AF5FBE-ABA5-9B47-B5B0-172E5EF3E4D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72234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BD73FB7-0576-DDE5-9A45-F670D6F285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868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9DC65DC-8BE6-C7A7-C16B-F65F85F812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103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A4DE0DB-980E-0252-C51F-B88A8F6F49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901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E380BA3-8270-4EF9-551F-500C79A259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500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D3380B3-5111-C5AE-D77D-6897D34CE0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786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06E1598-1FDA-AF98-4669-A63223A33D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658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77E0F3C-96BB-32CC-0819-D840B8A262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2618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632DE4C-A50B-054E-8118-ECC04B14848C}">
  <we:reference id="ec75510c-17ee-4a9f-ace0-62bbcae56d7a" version="1.0.0.0" store="EXCatalog" storeType="EXCatalog"/>
  <we:alternateReferences>
    <we:reference id="WA200000094" version="1.0.0.0" store="es-MX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636</Words>
  <Application>Microsoft Macintosh PowerPoint</Application>
  <PresentationFormat>Panorámica</PresentationFormat>
  <Paragraphs>68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Nicolas Felipe Torres Amaya</dc:creator>
  <cp:lastModifiedBy>Nicolas Felipe Torres Amaya</cp:lastModifiedBy>
  <cp:revision>1</cp:revision>
  <dcterms:created xsi:type="dcterms:W3CDTF">2026-06-21T21:51:17Z</dcterms:created>
  <dcterms:modified xsi:type="dcterms:W3CDTF">2026-06-21T21:58:43Z</dcterms:modified>
</cp:coreProperties>
</file>